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C27BC69-DAFC-77E7-9782-0C14D1065CF5}">
          <p14:sldIdLst/>
        </p14:section>
        <p14:section name="Data" id="{16774B3B-91EB-D193-EC78-8C7257DEFED8}">
          <p14:sldIdLst>
            <p14:sldId id="257"/>
            <p14:sldId id="258"/>
          </p14:sldIdLst>
        </p14:section>
        <p14:section name="Method" id="{6AAC4A43-9B79-D7EE-1E00-2096A6E1C84A}">
          <p14:sldIdLst>
            <p14:sldId id="259"/>
            <p14:sldId id="260"/>
          </p14:sldIdLst>
        </p14:section>
        <p14:section name="Model" id="{4A4A59AB-F5D6-DB73-762C-FBE4492D3696}">
          <p14:sldIdLst>
            <p14:sldId id="261"/>
            <p14:sldId id="262"/>
          </p14:sldIdLst>
        </p14:section>
        <p14:section name="Findings" id="{B215DF84-9ADA-718F-3A05-000E43EB2587}">
          <p14:sldIdLst>
            <p14:sldId id="263"/>
            <p14:sldId id="264"/>
          </p14:sldIdLst>
        </p14:section>
        <p14:section name="Conclusion" id="{105DB76D-5FB6-E307-FAC8-B20C9D8E0282}">
          <p14:sldIdLst/>
        </p14:section>
        <p14:section name="Appendix" id="{B62BD139-6670-850C-D96A-B9FEEF68FEB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636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1005840"/>
            <a:ext cx="42062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02920" y="3063240"/>
            <a:ext cx="42062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45720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Step-up/down rheology of human blood · Group 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11 blood samples, 136 steps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protocol families, so step size is tied to the sample: we compare within families</a:t>
            </a:r>
            <a:endParaRPr lang="en-US" sz="1500" dirty="0"/>
          </a:p>
        </p:txBody>
      </p:sp>
      <p:pic>
        <p:nvPicPr>
          <p:cNvPr id="4" name="figure 00_data_map.png" descr="Data map: which step-up and step-down tests exist for each blood sam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6126480" cy="3119792"/>
          </a:xfrm>
          <a:prstGeom prst="rect">
            <a:avLst/>
          </a:prstGeom>
          <a:effectLst>
            <a:outerShdw blurRad="76200" dist="25400" dir="5400000" algn="bl" rotWithShape="0">
              <a:srgbClr val="1B2433">
                <a:alpha val="18000"/>
              </a:srgbClr>
            </a:outerShdw>
          </a:effectLst>
        </p:spPr>
      </p:pic>
      <p:sp>
        <p:nvSpPr>
          <p:cNvPr id="5" name="card 15"/>
          <p:cNvSpPr/>
          <p:nvPr/>
        </p:nvSpPr>
        <p:spPr>
          <a:xfrm>
            <a:off x="6812280" y="1325880"/>
            <a:ext cx="1874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tat 15"/>
          <p:cNvSpPr txBox="1"/>
          <p:nvPr/>
        </p:nvSpPr>
        <p:spPr>
          <a:xfrm>
            <a:off x="6940296" y="1380744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workbooks received</a:t>
            </a:r>
            <a:endParaRPr lang="en-US" sz="2000" dirty="0"/>
          </a:p>
        </p:txBody>
      </p:sp>
      <p:sp>
        <p:nvSpPr>
          <p:cNvPr id="7" name="card 11"/>
          <p:cNvSpPr/>
          <p:nvPr/>
        </p:nvSpPr>
        <p:spPr>
          <a:xfrm>
            <a:off x="6812280" y="2139696"/>
            <a:ext cx="1874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tat 11"/>
          <p:cNvSpPr txBox="1"/>
          <p:nvPr/>
        </p:nvSpPr>
        <p:spPr>
          <a:xfrm>
            <a:off x="6940296" y="2194560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blood samples with step tests</a:t>
            </a:r>
            <a:endParaRPr lang="en-US" sz="2000" dirty="0"/>
          </a:p>
        </p:txBody>
      </p:sp>
      <p:sp>
        <p:nvSpPr>
          <p:cNvPr id="9" name="card 136"/>
          <p:cNvSpPr/>
          <p:nvPr/>
        </p:nvSpPr>
        <p:spPr>
          <a:xfrm>
            <a:off x="6812280" y="2953512"/>
            <a:ext cx="1874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tat 136"/>
          <p:cNvSpPr txBox="1"/>
          <p:nvPr/>
        </p:nvSpPr>
        <p:spPr>
          <a:xfrm>
            <a:off x="6940296" y="3008376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step tests after removing copies</a:t>
            </a:r>
            <a:endParaRPr lang="en-US" sz="2000" dirty="0"/>
          </a:p>
        </p:txBody>
      </p:sp>
      <p:sp>
        <p:nvSpPr>
          <p:cNvPr id="11" name="card 22"/>
          <p:cNvSpPr/>
          <p:nvPr/>
        </p:nvSpPr>
        <p:spPr>
          <a:xfrm>
            <a:off x="6812280" y="3767328"/>
            <a:ext cx="1874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tat 22"/>
          <p:cNvSpPr txBox="1"/>
          <p:nvPr/>
        </p:nvSpPr>
        <p:spPr>
          <a:xfrm>
            <a:off x="6940296" y="3822192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matched up/down pairs</a:t>
            </a:r>
            <a:endParaRPr lang="en-US" sz="2000" dirty="0"/>
          </a:p>
        </p:txBody>
      </p:sp>
      <p:sp>
        <p:nvSpPr>
          <p:cNvPr id="13" name="source"/>
          <p:cNvSpPr txBox="1"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Data: Armstrong &amp; Horner, ARES-G2 human blood rheology, Mendeley Data (2020–22); supplied workbooks.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F8E766-8087-FC34-0ACC-9BFD4906DA42}"/>
              </a:ext>
            </a:extLst>
          </p:cNvPr>
          <p:cNvSpPr/>
          <p:nvPr/>
        </p:nvSpPr>
        <p:spPr>
          <a:xfrm>
            <a:off x="320040" y="4901184"/>
            <a:ext cx="3851031" cy="1554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the data before using it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rates match their labels; three mislabelled blocks and seven copies are removed</a:t>
            </a:r>
            <a:endParaRPr lang="en-US" sz="1500" dirty="0"/>
          </a:p>
        </p:txBody>
      </p:sp>
      <p:pic>
        <p:nvPicPr>
          <p:cNvPr id="4" name="figure 01b_step_verification.png" descr="Measured versus labelled starting and final shear rates, and motor settling ti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8229600" cy="2468880"/>
          </a:xfrm>
          <a:prstGeom prst="rect">
            <a:avLst/>
          </a:prstGeom>
          <a:effectLst>
            <a:outerShdw blurRad="76200" dist="25400" dir="5400000" algn="bl" rotWithShape="0">
              <a:srgbClr val="1B2433">
                <a:alpha val="18000"/>
              </a:srgbClr>
            </a:outerShdw>
          </a:effectLst>
        </p:spPr>
      </p:pic>
      <p:sp>
        <p:nvSpPr>
          <p:cNvPr id="5" name="card 133 / 136"/>
          <p:cNvSpPr/>
          <p:nvPr/>
        </p:nvSpPr>
        <p:spPr>
          <a:xfrm>
            <a:off x="457200" y="3904488"/>
            <a:ext cx="26517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tat 133 / 136"/>
          <p:cNvSpPr txBox="1"/>
          <p:nvPr/>
        </p:nvSpPr>
        <p:spPr>
          <a:xfrm>
            <a:off x="585216" y="3959352"/>
            <a:ext cx="2395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 / 136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steps match their labelled rates</a:t>
            </a:r>
            <a:endParaRPr lang="en-US" sz="2000" dirty="0"/>
          </a:p>
        </p:txBody>
      </p:sp>
      <p:sp>
        <p:nvSpPr>
          <p:cNvPr id="7" name="card 7 copies"/>
          <p:cNvSpPr/>
          <p:nvPr/>
        </p:nvSpPr>
        <p:spPr>
          <a:xfrm>
            <a:off x="3246120" y="3904488"/>
            <a:ext cx="26517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tat 7 copies"/>
          <p:cNvSpPr txBox="1"/>
          <p:nvPr/>
        </p:nvSpPr>
        <p:spPr>
          <a:xfrm>
            <a:off x="3374136" y="3959352"/>
            <a:ext cx="2395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copies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of other blocks removed</a:t>
            </a:r>
            <a:endParaRPr lang="en-US" sz="2000" dirty="0"/>
          </a:p>
        </p:txBody>
      </p:sp>
      <p:sp>
        <p:nvSpPr>
          <p:cNvPr id="9" name="card ≤ 110 ms"/>
          <p:cNvSpPr/>
          <p:nvPr/>
        </p:nvSpPr>
        <p:spPr>
          <a:xfrm>
            <a:off x="6035040" y="3904488"/>
            <a:ext cx="26517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tat ≤ 110 ms"/>
          <p:cNvSpPr txBox="1"/>
          <p:nvPr/>
        </p:nvSpPr>
        <p:spPr>
          <a:xfrm>
            <a:off x="6163056" y="3959352"/>
            <a:ext cx="2395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110 ms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motor transient, excluded</a:t>
            </a:r>
            <a:endParaRPr lang="en-US" sz="2000" dirty="0"/>
          </a:p>
        </p:txBody>
      </p:sp>
      <p:sp>
        <p:nvSpPr>
          <p:cNvPr id="11" name="source"/>
          <p:cNvSpPr txBox="1"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Protocol: Pincot &amp; Armstrong (2021); instrument inertia: Das et al.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F27175-74EE-A4DD-87F1-242BD9D8FE5C}"/>
              </a:ext>
            </a:extLst>
          </p:cNvPr>
          <p:cNvSpPr/>
          <p:nvPr/>
        </p:nvSpPr>
        <p:spPr>
          <a:xfrm>
            <a:off x="320040" y="4901184"/>
            <a:ext cx="3872132" cy="1554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step response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after a step up is fast; rebuilding after a step down is about five times slower</a:t>
            </a:r>
            <a:endParaRPr lang="en-US" sz="1500" dirty="0"/>
          </a:p>
        </p:txBody>
      </p:sp>
      <p:pic>
        <p:nvPicPr>
          <p:cNvPr id="4" name="figure 02c_feature_anatomy.png" descr="Two annotated step responses from JUN18 showing each transient fea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8229600" cy="3165231"/>
          </a:xfrm>
          <a:prstGeom prst="rect">
            <a:avLst/>
          </a:prstGeom>
          <a:effectLst>
            <a:outerShdw blurRad="76200" dist="25400" dir="5400000" algn="bl" rotWithShape="0">
              <a:srgbClr val="1B2433">
                <a:alpha val="18000"/>
              </a:srgbClr>
            </a:outerShdw>
          </a:effectLst>
        </p:spPr>
      </p:pic>
      <p:sp>
        <p:nvSpPr>
          <p:cNvPr id="5" name="source"/>
          <p:cNvSpPr txBox="1"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Interpretation of overshoot and undershoot: Pincot et al. (2023); Armstrong et al. (2021).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4BAE4D-909F-777E-1947-FAE2F1778BB5}"/>
              </a:ext>
            </a:extLst>
          </p:cNvPr>
          <p:cNvSpPr/>
          <p:nvPr/>
        </p:nvSpPr>
        <p:spPr>
          <a:xfrm>
            <a:off x="320040" y="4901184"/>
            <a:ext cx="3872132" cy="1554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Transient and stable phases are distinct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time windows (transient to 2 s, stable from 30 s) separate the phases in every sample</a:t>
            </a:r>
            <a:endParaRPr lang="en-US" sz="1500" dirty="0"/>
          </a:p>
        </p:txBody>
      </p:sp>
      <p:pic>
        <p:nvPicPr>
          <p:cNvPr id="4" name="figure 02b_stable_state.png" descr="Share of steps reaching a stable state by final rate, and one step that does not sett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8229600" cy="2468880"/>
          </a:xfrm>
          <a:prstGeom prst="rect">
            <a:avLst/>
          </a:prstGeom>
          <a:effectLst>
            <a:outerShdw blurRad="76200" dist="25400" dir="5400000" algn="bl" rotWithShape="0">
              <a:srgbClr val="1B2433">
                <a:alpha val="18000"/>
              </a:srgbClr>
            </a:outerShdw>
          </a:effectLst>
        </p:spPr>
      </p:pic>
      <p:sp>
        <p:nvSpPr>
          <p:cNvPr id="5" name="card 87 %"/>
          <p:cNvSpPr/>
          <p:nvPr/>
        </p:nvSpPr>
        <p:spPr>
          <a:xfrm>
            <a:off x="457200" y="3904488"/>
            <a:ext cx="26517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tat 87 %"/>
          <p:cNvSpPr txBox="1"/>
          <p:nvPr/>
        </p:nvSpPr>
        <p:spPr>
          <a:xfrm>
            <a:off x="585216" y="3959352"/>
            <a:ext cx="2395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87 %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of steps reach a stable state</a:t>
            </a:r>
            <a:endParaRPr lang="en-US" sz="2000" dirty="0"/>
          </a:p>
        </p:txBody>
      </p:sp>
      <p:sp>
        <p:nvSpPr>
          <p:cNvPr id="7" name="card 16 / 28"/>
          <p:cNvSpPr/>
          <p:nvPr/>
        </p:nvSpPr>
        <p:spPr>
          <a:xfrm>
            <a:off x="3246120" y="3904488"/>
            <a:ext cx="26517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tat 16 / 28"/>
          <p:cNvSpPr txBox="1"/>
          <p:nvPr/>
        </p:nvSpPr>
        <p:spPr>
          <a:xfrm>
            <a:off x="3374136" y="3959352"/>
            <a:ext cx="2395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28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steps down to 0.1 s⁻¹ settle</a:t>
            </a:r>
            <a:endParaRPr lang="en-US" sz="2000" dirty="0"/>
          </a:p>
        </p:txBody>
      </p:sp>
      <p:sp>
        <p:nvSpPr>
          <p:cNvPr id="9" name="card 11 / 11"/>
          <p:cNvSpPr/>
          <p:nvPr/>
        </p:nvSpPr>
        <p:spPr>
          <a:xfrm>
            <a:off x="6035040" y="3904488"/>
            <a:ext cx="26517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tat 11 / 11"/>
          <p:cNvSpPr txBox="1"/>
          <p:nvPr/>
        </p:nvSpPr>
        <p:spPr>
          <a:xfrm>
            <a:off x="6163056" y="3959352"/>
            <a:ext cx="23957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11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samples: transient ≠ stable</a:t>
            </a:r>
            <a:endParaRPr lang="en-US" sz="2000" dirty="0"/>
          </a:p>
        </p:txBody>
      </p:sp>
      <p:sp>
        <p:nvSpPr>
          <p:cNvPr id="11" name="source"/>
          <p:cNvSpPr txBox="1"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Window lengths set from the published structural time τλ ≈ 1.1 s (Armstrong et al., 2022).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5C8013-FCC3-7D8B-C9C8-000F078E693A}"/>
              </a:ext>
            </a:extLst>
          </p:cNvPr>
          <p:cNvSpPr/>
          <p:nvPr/>
        </p:nvSpPr>
        <p:spPr>
          <a:xfrm>
            <a:off x="320040" y="4901184"/>
            <a:ext cx="3872132" cy="1554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matches the literature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to each sample, the ethixo-EVP model gives τλ and G on the published scale</a:t>
            </a:r>
            <a:endParaRPr lang="en-US" sz="1500" dirty="0"/>
          </a:p>
        </p:txBody>
      </p:sp>
      <p:pic>
        <p:nvPicPr>
          <p:cNvPr id="4" name="figure 04_representative_fits.png" descr="Model fits to steps down from 5 1/s and up from 0.25 1/s in JUN18, with the structure parame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5783580" cy="3154680"/>
          </a:xfrm>
          <a:prstGeom prst="rect">
            <a:avLst/>
          </a:prstGeom>
          <a:effectLst>
            <a:outerShdw blurRad="76200" dist="25400" dir="5400000" algn="bl" rotWithShape="0">
              <a:srgbClr val="1B2433">
                <a:alpha val="18000"/>
              </a:srgbClr>
            </a:outerShdw>
          </a:effectLst>
        </p:spPr>
      </p:pic>
      <p:sp>
        <p:nvSpPr>
          <p:cNvPr id="5" name="card 0.64 s"/>
          <p:cNvSpPr/>
          <p:nvPr/>
        </p:nvSpPr>
        <p:spPr>
          <a:xfrm>
            <a:off x="6583680" y="1298448"/>
            <a:ext cx="21031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tat 0.64 s"/>
          <p:cNvSpPr txBox="1"/>
          <p:nvPr/>
        </p:nvSpPr>
        <p:spPr>
          <a:xfrm>
            <a:off x="6711696" y="1353312"/>
            <a:ext cx="18470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 s</a:t>
            </a:r>
            <a:endParaRPr lang="en-US" sz="2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median τλ</a:t>
            </a:r>
            <a:endParaRPr lang="en-US" sz="2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published 0.55–1.13 s</a:t>
            </a:r>
            <a:endParaRPr lang="en-US" sz="2600" dirty="0"/>
          </a:p>
        </p:txBody>
      </p:sp>
      <p:sp>
        <p:nvSpPr>
          <p:cNvPr id="7" name="card 0.27 Pa"/>
          <p:cNvSpPr/>
          <p:nvPr/>
        </p:nvSpPr>
        <p:spPr>
          <a:xfrm>
            <a:off x="6583680" y="2377440"/>
            <a:ext cx="21031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tat 0.27 Pa"/>
          <p:cNvSpPr txBox="1"/>
          <p:nvPr/>
        </p:nvSpPr>
        <p:spPr>
          <a:xfrm>
            <a:off x="6711696" y="2432304"/>
            <a:ext cx="18470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0.27 Pa</a:t>
            </a:r>
            <a:endParaRPr lang="en-US" sz="2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median G</a:t>
            </a:r>
            <a:endParaRPr lang="en-US" sz="2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published 0.29 Pa, same model</a:t>
            </a:r>
            <a:endParaRPr lang="en-US" sz="2600" dirty="0"/>
          </a:p>
        </p:txBody>
      </p:sp>
      <p:sp>
        <p:nvSpPr>
          <p:cNvPr id="9" name="card 13 / 13"/>
          <p:cNvSpPr/>
          <p:nvPr/>
        </p:nvSpPr>
        <p:spPr>
          <a:xfrm>
            <a:off x="6583680" y="3456432"/>
            <a:ext cx="21031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tat 13 / 13"/>
          <p:cNvSpPr txBox="1"/>
          <p:nvPr/>
        </p:nvSpPr>
        <p:spPr>
          <a:xfrm>
            <a:off x="6711696" y="3511296"/>
            <a:ext cx="18470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</a:t>
            </a:r>
            <a:endParaRPr lang="en-US" sz="2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fits converge, no parameter on a bound</a:t>
            </a:r>
            <a:endParaRPr lang="en-US" sz="2600" dirty="0"/>
          </a:p>
        </p:txBody>
      </p:sp>
      <p:sp>
        <p:nvSpPr>
          <p:cNvPr id="11" name="source"/>
          <p:cNvSpPr txBox="1"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Model: Armstrong et al. (2021), Eqs. 10–16; fitting: Armstrong et al. (2022), Eq. 12; Pincot &amp; Armstrong (2021).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F6E53E-7BE4-F69F-E6C8-846A3F14AAD8}"/>
              </a:ext>
            </a:extLst>
          </p:cNvPr>
          <p:cNvSpPr/>
          <p:nvPr/>
        </p:nvSpPr>
        <p:spPr>
          <a:xfrm>
            <a:off x="320040" y="4901184"/>
            <a:ext cx="3872132" cy="1554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falls short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step down, stress keeps recovering for 10–60 s, a slower process the model lacks</a:t>
            </a:r>
            <a:endParaRPr lang="en-US" sz="1500" dirty="0"/>
          </a:p>
        </p:txBody>
      </p:sp>
      <p:pic>
        <p:nvPicPr>
          <p:cNvPr id="4" name="figure 04c_model_all_samples.png" descr="Model against data in every sample for one step down from 5 1/s and one step up to 5 1/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5852160" cy="3106146"/>
          </a:xfrm>
          <a:prstGeom prst="rect">
            <a:avLst/>
          </a:prstGeom>
          <a:effectLst>
            <a:outerShdw blurRad="76200" dist="25400" dir="5400000" algn="bl" rotWithShape="0">
              <a:srgbClr val="1B2433">
                <a:alpha val="18000"/>
              </a:srgbClr>
            </a:outerShdw>
          </a:effectLst>
        </p:spPr>
      </p:pic>
      <p:sp>
        <p:nvSpPr>
          <p:cNvPr id="5" name="card 50 / 133"/>
          <p:cNvSpPr/>
          <p:nvPr/>
        </p:nvSpPr>
        <p:spPr>
          <a:xfrm>
            <a:off x="6583680" y="1298448"/>
            <a:ext cx="21031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tat 50 / 133"/>
          <p:cNvSpPr txBox="1"/>
          <p:nvPr/>
        </p:nvSpPr>
        <p:spPr>
          <a:xfrm>
            <a:off x="6711696" y="1353312"/>
            <a:ext cx="18470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133</a:t>
            </a:r>
            <a:endParaRPr lang="en-US" sz="2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steps fitted within the pre-set tolerance</a:t>
            </a:r>
            <a:endParaRPr lang="en-US" sz="2600" dirty="0"/>
          </a:p>
        </p:txBody>
      </p:sp>
      <p:sp>
        <p:nvSpPr>
          <p:cNvPr id="7" name="card 49 %"/>
          <p:cNvSpPr/>
          <p:nvPr/>
        </p:nvSpPr>
        <p:spPr>
          <a:xfrm>
            <a:off x="6583680" y="2377440"/>
            <a:ext cx="21031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tat 49 %"/>
          <p:cNvSpPr txBox="1"/>
          <p:nvPr/>
        </p:nvSpPr>
        <p:spPr>
          <a:xfrm>
            <a:off x="6711696" y="2432304"/>
            <a:ext cx="18470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49 %</a:t>
            </a:r>
            <a:endParaRPr lang="en-US" sz="2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of single-exponential τ values usable</a:t>
            </a:r>
            <a:endParaRPr lang="en-US" sz="2600" dirty="0"/>
          </a:p>
        </p:txBody>
      </p:sp>
      <p:sp>
        <p:nvSpPr>
          <p:cNvPr id="9" name="card note"/>
          <p:cNvSpPr/>
          <p:nvPr/>
        </p:nvSpPr>
        <p:spPr>
          <a:xfrm>
            <a:off x="6583680" y="3456432"/>
            <a:ext cx="21031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note slower process"/>
          <p:cNvSpPr txBox="1"/>
          <p:nvPr/>
        </p:nvSpPr>
        <p:spPr>
          <a:xfrm>
            <a:off x="6711696" y="3511296"/>
            <a:ext cx="18470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Points to a second, slower structural time scale (Wei et al., 2018)</a:t>
            </a:r>
            <a:endParaRPr lang="en-US" sz="1200" dirty="0"/>
          </a:p>
        </p:txBody>
      </p:sp>
      <p:sp>
        <p:nvSpPr>
          <p:cNvPr id="11" name="source"/>
          <p:cNvSpPr txBox="1"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Stress divided by each step's own stable value, so all samples share one scale.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28979A-A8E9-5472-1565-D871BD784E9E}"/>
              </a:ext>
            </a:extLst>
          </p:cNvPr>
          <p:cNvSpPr/>
          <p:nvPr/>
        </p:nvSpPr>
        <p:spPr>
          <a:xfrm>
            <a:off x="320040" y="4901184"/>
            <a:ext cx="3872132" cy="1554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size and direction leave signatures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features carry step size in each direction; undershoot and initial slope carry direction</a:t>
            </a:r>
            <a:endParaRPr lang="en-US" sz="1500" dirty="0"/>
          </a:p>
        </p:txBody>
      </p:sp>
      <p:pic>
        <p:nvPicPr>
          <p:cNvPr id="4" name="figure 05b_evidence_summary.png" descr="Heatmap of how each feature varies with step size, and dot plot of matched up/down pai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8229600" cy="2908847"/>
          </a:xfrm>
          <a:prstGeom prst="rect">
            <a:avLst/>
          </a:prstGeom>
          <a:effectLst>
            <a:outerShdw blurRad="76200" dist="25400" dir="5400000" algn="bl" rotWithShape="0">
              <a:srgbClr val="1B2433">
                <a:alpha val="18000"/>
              </a:srgbClr>
            </a:outerShdw>
          </a:effectLst>
        </p:spPr>
      </p:pic>
      <p:sp>
        <p:nvSpPr>
          <p:cNvPr id="5" name="source"/>
          <p:cNvSpPr txBox="1"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Statistics on per-sample summaries (11 independent samples); sign tests across samples.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06B429-5E69-9918-5BF8-130ECCEF29AA}"/>
              </a:ext>
            </a:extLst>
          </p:cNvPr>
          <p:cNvSpPr/>
          <p:nvPr/>
        </p:nvSpPr>
        <p:spPr>
          <a:xfrm>
            <a:off x="320040" y="4901184"/>
            <a:ext cx="3872132" cy="1554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Telling step up from step down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planned rule failed; three rules found afterwards separate the pairs but need new samples</a:t>
            </a:r>
            <a:endParaRPr lang="en-US" sz="1500" dirty="0"/>
          </a:p>
        </p:txBody>
      </p:sp>
      <p:pic>
        <p:nvPicPr>
          <p:cNvPr id="4" name="figure 06b_direction_rules.png" descr="Accuracy and confidence intervals of four rules for telling step up from step dow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98448"/>
            <a:ext cx="7680960" cy="2227478"/>
          </a:xfrm>
          <a:prstGeom prst="rect">
            <a:avLst/>
          </a:prstGeom>
          <a:effectLst>
            <a:outerShdw blurRad="76200" dist="25400" dir="5400000" algn="bl" rotWithShape="0">
              <a:srgbClr val="1B2433">
                <a:alpha val="18000"/>
              </a:srgbClr>
            </a:outerShdw>
          </a:effectLst>
        </p:spPr>
      </p:pic>
      <p:sp>
        <p:nvSpPr>
          <p:cNvPr id="5" name="card 55 %"/>
          <p:cNvSpPr/>
          <p:nvPr/>
        </p:nvSpPr>
        <p:spPr>
          <a:xfrm>
            <a:off x="457200" y="3813048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tat 55 %"/>
          <p:cNvSpPr txBox="1"/>
          <p:nvPr/>
        </p:nvSpPr>
        <p:spPr>
          <a:xfrm>
            <a:off x="585216" y="3867912"/>
            <a:ext cx="2395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55 %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planned rule (chance = 50 %)</a:t>
            </a:r>
            <a:endParaRPr lang="en-US" sz="2000" dirty="0"/>
          </a:p>
        </p:txBody>
      </p:sp>
      <p:sp>
        <p:nvSpPr>
          <p:cNvPr id="7" name="card 22 / 22"/>
          <p:cNvSpPr/>
          <p:nvPr/>
        </p:nvSpPr>
        <p:spPr>
          <a:xfrm>
            <a:off x="3246120" y="3813048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tat 22 / 22"/>
          <p:cNvSpPr txBox="1"/>
          <p:nvPr/>
        </p:nvSpPr>
        <p:spPr>
          <a:xfrm>
            <a:off x="3374136" y="3867912"/>
            <a:ext cx="2395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/ 22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pairs: larger undershoot = step down</a:t>
            </a:r>
            <a:endParaRPr lang="en-US" sz="2000" dirty="0"/>
          </a:p>
        </p:txBody>
      </p:sp>
      <p:sp>
        <p:nvSpPr>
          <p:cNvPr id="9" name="card 21 / 22"/>
          <p:cNvSpPr/>
          <p:nvPr/>
        </p:nvSpPr>
        <p:spPr>
          <a:xfrm>
            <a:off x="6035040" y="3813048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tat 21 / 22"/>
          <p:cNvSpPr txBox="1"/>
          <p:nvPr/>
        </p:nvSpPr>
        <p:spPr>
          <a:xfrm>
            <a:off x="6163056" y="3867912"/>
            <a:ext cx="2395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22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pairs: larger area = step up</a:t>
            </a:r>
            <a:endParaRPr lang="en-US" sz="2000" dirty="0"/>
          </a:p>
        </p:txBody>
      </p:sp>
      <p:sp>
        <p:nvSpPr>
          <p:cNvPr id="11" name="source"/>
          <p:cNvSpPr txBox="1"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Confidence intervals: bootstrap resampling whole blood samples (2,000 resamples).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1D1A3C-06C2-7AA2-0238-183D74FCABD1}"/>
              </a:ext>
            </a:extLst>
          </p:cNvPr>
          <p:cNvSpPr/>
          <p:nvPr/>
        </p:nvSpPr>
        <p:spPr>
          <a:xfrm>
            <a:off x="320040" y="4901184"/>
            <a:ext cx="3872132" cy="1554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supplied by the team, the datasets they publish, and additional sources</a:t>
            </a:r>
            <a:endParaRPr lang="en-US" sz="1500" dirty="0"/>
          </a:p>
        </p:txBody>
      </p:sp>
      <p:sp>
        <p:nvSpPr>
          <p:cNvPr id="4" name="references left"/>
          <p:cNvSpPr txBox="1"/>
          <p:nvPr/>
        </p:nvSpPr>
        <p:spPr>
          <a:xfrm>
            <a:off x="457200" y="1325880"/>
            <a:ext cx="4434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Papers used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Armstrong, Scully, Clark, Corrigan &amp; James (2021). J. Non-Newtonian Fluid Mech. 290, 104503.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Armstrong, Pincot, Rogers, Knight &amp; Bailey (2022). Frontiers in Physics 10, 889065.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Pincot &amp; Armstrong (2021). Scientific Reports 11, 22004.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Pincot, Burpo, Javadi, Jamali, Farrington &amp; Armstrong (2023). Physics of Fluids 35, 113104.</a:t>
            </a:r>
            <a:endParaRPr lang="en-US" sz="1200" dirty="0"/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Additional sources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Wei, Solomon &amp; Larson (2018). J. Rheol. 62, 321–342.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Bureau, Healy, Bourgoin &amp; Joly (1980). Biorheology 17, 191–203.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Das, Hudson-Kershaw, Yang, Curtis &amp; McKinley (2024). J. Rheol. 68, 365–383.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Virtanen et al. (2020). SciPy 1.0. Nature Methods 17, 261–272.</a:t>
            </a:r>
            <a:endParaRPr lang="en-US" sz="1200" dirty="0"/>
          </a:p>
        </p:txBody>
      </p:sp>
      <p:sp>
        <p:nvSpPr>
          <p:cNvPr id="5" name="references right"/>
          <p:cNvSpPr txBox="1"/>
          <p:nvPr/>
        </p:nvSpPr>
        <p:spPr>
          <a:xfrm>
            <a:off x="5120640" y="1325880"/>
            <a:ext cx="3566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Datasets (Armstrong &amp; Horner, Mendeley Data)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JUN18: doi.org/10.17632/948ffnypjs.1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JUL18: doi.org/10.17632/s8w6s6f68b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DEC17: doi.org/10.17632/d43r5ydpx8.1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FEB18: doi.org/10.17632/jdzpx6hy6r.1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APR18: doi.org/10.17632/6jjryg2f8v.1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MAR19: doi.org/10.17632/6dx72mxmy9.1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MAY19: doi.org/10.17632/k8fxtjhcxj.1</a:t>
            </a:r>
            <a:endParaRPr lang="en-US" sz="1200" dirty="0"/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Project documents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Group 24: project plan; Semester 1 report; Part 1 data-processing pipeline.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C7DDB4-4837-9AE2-6232-876EBEEC5A3E}"/>
              </a:ext>
            </a:extLst>
          </p:cNvPr>
          <p:cNvSpPr/>
          <p:nvPr/>
        </p:nvSpPr>
        <p:spPr>
          <a:xfrm>
            <a:off x="320040" y="4901184"/>
            <a:ext cx="3872132" cy="1554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C9C52D-8A71-19B6-ABB4-66D74F59D9C1}"/>
              </a:ext>
            </a:extLst>
          </p:cNvPr>
          <p:cNvSpPr/>
          <p:nvPr/>
        </p:nvSpPr>
        <p:spPr>
          <a:xfrm>
            <a:off x="4631788" y="2999700"/>
            <a:ext cx="3872132" cy="4679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ood Steps">
  <a:themeElements>
    <a:clrScheme name="Blood Steps">
      <a:dk1>
        <a:srgbClr val="1B2433"/>
      </a:dk1>
      <a:lt1>
        <a:srgbClr val="FFFFFF"/>
      </a:lt1>
      <a:dk2>
        <a:srgbClr val="14213D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52514E"/>
      </a:accent5>
      <a:accent6>
        <a:srgbClr val="898781"/>
      </a:accent6>
      <a:hlink>
        <a:srgbClr val="2A78D6"/>
      </a:hlink>
      <a:folHlink>
        <a:srgbClr val="4A3AA7"/>
      </a:folHlink>
    </a:clrScheme>
    <a:fontScheme name="Blood Step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759</Words>
  <Application>Microsoft Office PowerPoint</Application>
  <PresentationFormat>On-screen Show (16:9)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Blood Steps</vt:lpstr>
      <vt:lpstr>The data: 11 blood samples, 136 steps</vt:lpstr>
      <vt:lpstr>Checking the data before using it</vt:lpstr>
      <vt:lpstr>Anatomy of a step response</vt:lpstr>
      <vt:lpstr>Transient and stable phases are distinct</vt:lpstr>
      <vt:lpstr>The model matches the literature</vt:lpstr>
      <vt:lpstr>Where the model falls short</vt:lpstr>
      <vt:lpstr>Step size and direction leave signatures</vt:lpstr>
      <vt:lpstr>Telling step up from step down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 step in shear rate reveals about blood structure</dc:title>
  <dc:subject>PptxGenJS Presentation</dc:subject>
  <dc:creator>Group 24</dc:creator>
  <cp:lastModifiedBy>Rohan Roy</cp:lastModifiedBy>
  <cp:revision>3</cp:revision>
  <dcterms:created xsi:type="dcterms:W3CDTF">2026-10-04T11:24:48Z</dcterms:created>
  <dcterms:modified xsi:type="dcterms:W3CDTF">2026-10-07T23:13:22Z</dcterms:modified>
</cp:coreProperties>
</file>