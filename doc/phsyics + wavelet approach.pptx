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753510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SLIDE for the rheologist. Two protocol types: progressive-thickening (helton) gives a real gel point; imposed-transient (step/cessation/etc.) doesn't. Helton alone gives 20 of the clean crossovers. This explains WHY only 49 signals have a clean crossover - it's physics, not a weakness.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approach — 7 phases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1517904" cy="3017520"/>
          </a:xfrm>
          <a:prstGeom prst="roundRect">
            <a:avLst>
              <a:gd name="adj" fmla="val 3614"/>
            </a:avLst>
          </a:prstGeom>
          <a:solidFill>
            <a:srgbClr val="F7F9FB"/>
          </a:solidFill>
          <a:ln/>
          <a:effectLst>
            <a:outerShdw blurRad="63500" dist="25400" dir="5400000" algn="bl" rotWithShape="0">
              <a:srgbClr val="9AA6B2">
                <a:alpha val="2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96696" y="1810512"/>
            <a:ext cx="621792" cy="621792"/>
          </a:xfrm>
          <a:prstGeom prst="ellipse">
            <a:avLst/>
          </a:prstGeom>
          <a:solidFill>
            <a:srgbClr val="9E1B32"/>
          </a:solidFill>
          <a:ln/>
        </p:spPr>
      </p:sp>
      <p:sp>
        <p:nvSpPr>
          <p:cNvPr id="5" name="Text 3"/>
          <p:cNvSpPr/>
          <p:nvPr/>
        </p:nvSpPr>
        <p:spPr>
          <a:xfrm>
            <a:off x="996696" y="181051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94360" y="2542032"/>
            <a:ext cx="14264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9E1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gel point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3246120"/>
            <a:ext cx="14264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G′/G″ crossover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029968" y="278892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E1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157984" y="1600200"/>
            <a:ext cx="1517904" cy="3017520"/>
          </a:xfrm>
          <a:prstGeom prst="roundRect">
            <a:avLst>
              <a:gd name="adj" fmla="val 3614"/>
            </a:avLst>
          </a:prstGeom>
          <a:solidFill>
            <a:srgbClr val="F7F9FB"/>
          </a:solidFill>
          <a:ln/>
          <a:effectLst>
            <a:outerShdw blurRad="63500" dist="25400" dir="5400000" algn="bl" rotWithShape="0">
              <a:srgbClr val="9AA6B2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606040" y="1810512"/>
            <a:ext cx="621792" cy="621792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1" name="Text 9"/>
          <p:cNvSpPr/>
          <p:nvPr/>
        </p:nvSpPr>
        <p:spPr>
          <a:xfrm>
            <a:off x="2606040" y="181051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203704" y="2542032"/>
            <a:ext cx="14264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+ synthetic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203704" y="3246120"/>
            <a:ext cx="14264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known-answer clot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639312" y="278892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E1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767328" y="1600200"/>
            <a:ext cx="1517904" cy="3017520"/>
          </a:xfrm>
          <a:prstGeom prst="roundRect">
            <a:avLst>
              <a:gd name="adj" fmla="val 3614"/>
            </a:avLst>
          </a:prstGeom>
          <a:solidFill>
            <a:srgbClr val="F7F9FB"/>
          </a:solidFill>
          <a:ln/>
          <a:effectLst>
            <a:outerShdw blurRad="63500" dist="25400" dir="5400000" algn="bl" rotWithShape="0">
              <a:srgbClr val="9AA6B2">
                <a:alpha val="2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215384" y="1810512"/>
            <a:ext cx="621792" cy="621792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7" name="Text 15"/>
          <p:cNvSpPr/>
          <p:nvPr/>
        </p:nvSpPr>
        <p:spPr>
          <a:xfrm>
            <a:off x="4215384" y="181051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3813048" y="2542032"/>
            <a:ext cx="14264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gate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813048" y="3246120"/>
            <a:ext cx="14264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noisy windows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248656" y="278892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E1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376672" y="1600200"/>
            <a:ext cx="1517904" cy="3017520"/>
          </a:xfrm>
          <a:prstGeom prst="roundRect">
            <a:avLst>
              <a:gd name="adj" fmla="val 3614"/>
            </a:avLst>
          </a:prstGeom>
          <a:solidFill>
            <a:srgbClr val="F7F9FB"/>
          </a:solidFill>
          <a:ln/>
          <a:effectLst>
            <a:outerShdw blurRad="63500" dist="25400" dir="5400000" algn="bl" rotWithShape="0">
              <a:srgbClr val="9AA6B2">
                <a:alpha val="2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824728" y="1810512"/>
            <a:ext cx="621792" cy="621792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3" name="Text 21"/>
          <p:cNvSpPr/>
          <p:nvPr/>
        </p:nvSpPr>
        <p:spPr>
          <a:xfrm>
            <a:off x="5824728" y="181051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5422392" y="2542032"/>
            <a:ext cx="14264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methods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22392" y="3246120"/>
            <a:ext cx="14264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Fourier·CWT·DWT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858000" y="278892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E1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986016" y="1600200"/>
            <a:ext cx="1517904" cy="3017520"/>
          </a:xfrm>
          <a:prstGeom prst="roundRect">
            <a:avLst>
              <a:gd name="adj" fmla="val 3614"/>
            </a:avLst>
          </a:prstGeom>
          <a:solidFill>
            <a:srgbClr val="F7F9FB"/>
          </a:solidFill>
          <a:ln/>
          <a:effectLst>
            <a:outerShdw blurRad="63500" dist="25400" dir="5400000" algn="bl" rotWithShape="0">
              <a:srgbClr val="9AA6B2">
                <a:alpha val="2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434072" y="1810512"/>
            <a:ext cx="621792" cy="621792"/>
          </a:xfrm>
          <a:prstGeom prst="ellipse">
            <a:avLst/>
          </a:prstGeom>
          <a:solidFill>
            <a:srgbClr val="9E1B32"/>
          </a:solidFill>
          <a:ln/>
        </p:spPr>
      </p:sp>
      <p:sp>
        <p:nvSpPr>
          <p:cNvPr id="29" name="Text 27"/>
          <p:cNvSpPr/>
          <p:nvPr/>
        </p:nvSpPr>
        <p:spPr>
          <a:xfrm>
            <a:off x="7434072" y="181051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4.5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031736" y="2542032"/>
            <a:ext cx="14264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9E1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Physics-conditioned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031736" y="3246120"/>
            <a:ext cx="14264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physics→wavelet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8467344" y="278892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E1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8595360" y="1600200"/>
            <a:ext cx="1517904" cy="3017520"/>
          </a:xfrm>
          <a:prstGeom prst="roundRect">
            <a:avLst>
              <a:gd name="adj" fmla="val 3614"/>
            </a:avLst>
          </a:prstGeom>
          <a:solidFill>
            <a:srgbClr val="F7F9FB"/>
          </a:solidFill>
          <a:ln/>
          <a:effectLst>
            <a:outerShdw blurRad="63500" dist="25400" dir="5400000" algn="bl" rotWithShape="0">
              <a:srgbClr val="9AA6B2">
                <a:alpha val="2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9043416" y="1810512"/>
            <a:ext cx="621792" cy="621792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35" name="Text 33"/>
          <p:cNvSpPr/>
          <p:nvPr/>
        </p:nvSpPr>
        <p:spPr>
          <a:xfrm>
            <a:off x="9043416" y="181051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8641080" y="2542032"/>
            <a:ext cx="14264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methods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8641080" y="3246120"/>
            <a:ext cx="14264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criteria + gel point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10076688" y="278892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E1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10204704" y="1600200"/>
            <a:ext cx="1517904" cy="3017520"/>
          </a:xfrm>
          <a:prstGeom prst="roundRect">
            <a:avLst>
              <a:gd name="adj" fmla="val 3614"/>
            </a:avLst>
          </a:prstGeom>
          <a:solidFill>
            <a:srgbClr val="F7F9FB"/>
          </a:solidFill>
          <a:ln/>
          <a:effectLst>
            <a:outerShdw blurRad="63500" dist="25400" dir="5400000" algn="bl" rotWithShape="0">
              <a:srgbClr val="9AA6B2">
                <a:alpha val="2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10652760" y="1810512"/>
            <a:ext cx="621792" cy="621792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41" name="Text 39"/>
          <p:cNvSpPr/>
          <p:nvPr/>
        </p:nvSpPr>
        <p:spPr>
          <a:xfrm>
            <a:off x="10652760" y="181051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42" name="Text 40"/>
          <p:cNvSpPr/>
          <p:nvPr/>
        </p:nvSpPr>
        <p:spPr>
          <a:xfrm>
            <a:off x="10250424" y="2542032"/>
            <a:ext cx="14264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&amp; deploy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10250424" y="3246120"/>
            <a:ext cx="14264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winner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640080" y="4937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7 (not shown): one donor — JUN18 — end to end.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7 test protocols — and which one gives a gel point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58368" y="10972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E1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rheometer runs different tests; only some let blood clot naturally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349240" cy="4297680"/>
          </a:xfrm>
          <a:prstGeom prst="roundRect">
            <a:avLst>
              <a:gd name="adj" fmla="val 1277"/>
            </a:avLst>
          </a:prstGeom>
          <a:solidFill>
            <a:srgbClr val="EAF3EA"/>
          </a:solidFill>
          <a:ln/>
          <a:effectLst>
            <a:outerShdw blurRad="63500" dist="25400" dir="5400000" algn="bl" rotWithShape="0">
              <a:srgbClr val="9AA6B2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8745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Progressive thickening — blood clots naturally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2377440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is left to structure over time, so a real liquid→gel transition happens → the G′/G″ crossover is detectable.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914400" y="3337560"/>
            <a:ext cx="457200" cy="45720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508760" y="331927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helton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508760" y="3630168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protocol — 20 clean crossovers, more than all others combined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914400" y="4389120"/>
            <a:ext cx="457200" cy="45720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4389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508760" y="437083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(slow LAOS)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508760" y="4681728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occasionally thickens enough to show a crossover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914400" y="55778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i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where the PHYSICAL gel point comes from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72200" y="1691640"/>
            <a:ext cx="5349240" cy="4297680"/>
          </a:xfrm>
          <a:prstGeom prst="roundRect">
            <a:avLst>
              <a:gd name="adj" fmla="val 1277"/>
            </a:avLst>
          </a:prstGeom>
          <a:solidFill>
            <a:srgbClr val="FBEDED"/>
          </a:solidFill>
          <a:ln/>
          <a:effectLst>
            <a:outerShdw blurRad="63500" dist="25400" dir="5400000" algn="bl" rotWithShape="0">
              <a:srgbClr val="9AA6B2">
                <a:alpha val="2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46520" y="18745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2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Imposed transient — blood is driven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46520" y="2377440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rheometer forces an oscillation or jump, so viscosity spikes then decays — there's no natural clot instant to report.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446520" y="32461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2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766560" y="32461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412480" y="32461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step-up/down in shear rate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46520" y="37581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2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766560" y="375818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cessation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412480" y="375818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suddenly stopped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46520" y="42702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2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766560" y="427024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reversal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412480" y="427024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direction reversed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46520" y="47823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2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766560" y="47823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LAOS / UDLAOS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412480" y="478231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large-amplitude oscillation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446520" y="52943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2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766560" y="529437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SRFS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412480" y="529437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stress/strain-rate sweep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446520" y="58064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i="1" dirty="0">
                <a:solidFill>
                  <a:srgbClr val="B2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blank on the readout (not faked)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640080" y="6172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why only ~49 of 267 signals give a clean gel point — it's a protocol-type fact, not a failure.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777240" cy="777240"/>
          </a:xfrm>
          <a:prstGeom prst="ellipse">
            <a:avLst/>
          </a:prstGeom>
          <a:solidFill>
            <a:srgbClr val="9E1B3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508760" y="384048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1 — Define the Gel Point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536192" y="896112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E1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target: where elastic G′ overtakes viscous G″ (liquid→gel)</a:t>
            </a:r>
            <a:endParaRPr lang="en-US" sz="1400" dirty="0"/>
          </a:p>
        </p:txBody>
      </p:sp>
      <p:pic>
        <p:nvPicPr>
          <p:cNvPr id="6" name="Image 0" descr="/home/claude/v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463040"/>
            <a:ext cx="8138160" cy="47548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823960" y="1463040"/>
            <a:ext cx="2834640" cy="4572000"/>
          </a:xfrm>
          <a:prstGeom prst="roundRect">
            <a:avLst>
              <a:gd name="adj" fmla="val 1935"/>
            </a:avLst>
          </a:prstGeom>
          <a:solidFill>
            <a:srgbClr val="1B2A4A"/>
          </a:solidFill>
          <a:ln/>
          <a:effectLst>
            <a:outerShdw blurRad="63500" dist="25400" dir="5400000" algn="bl" rotWithShape="0">
              <a:srgbClr val="9AA6B2">
                <a:alpha val="2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9052560" y="162763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definition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9052560" y="2057400"/>
            <a:ext cx="24231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G′ = storage (solid/elastic).</a:t>
            </a: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G″ = loss (liquid/viscous).</a:t>
            </a: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Liquid: G″ &gt; G′.</a:t>
            </a: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Gel: G′ &gt; G″.</a:t>
            </a: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Crossover (δ=45°) = the gel point.</a:t>
            </a: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Defined FIRST because it's the target every method is judged against.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777240" cy="77724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508760" y="384048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2 — The Synthetic Clot (how it's built)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536192" y="896112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E1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 chirp × envelope + 3rd-harmonic + noise, gel placed at 32 s</a:t>
            </a:r>
            <a:endParaRPr lang="en-US" sz="1400" dirty="0"/>
          </a:p>
        </p:txBody>
      </p:sp>
      <p:pic>
        <p:nvPicPr>
          <p:cNvPr id="6" name="Image 0" descr="/home/claude/v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463040"/>
            <a:ext cx="8138160" cy="47548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823960" y="1463040"/>
            <a:ext cx="2834640" cy="4572000"/>
          </a:xfrm>
          <a:prstGeom prst="roundRect">
            <a:avLst>
              <a:gd name="adj" fmla="val 1935"/>
            </a:avLst>
          </a:prstGeom>
          <a:solidFill>
            <a:srgbClr val="1B2A4A"/>
          </a:solidFill>
          <a:ln/>
          <a:effectLst>
            <a:outerShdw blurRad="63500" dist="25400" dir="5400000" algn="bl" rotWithShape="0">
              <a:srgbClr val="9AA6B2">
                <a:alpha val="2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9052560" y="162763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9052560" y="2057400"/>
            <a:ext cx="24231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freq ramp: f(t)=f₀+k·t</a:t>
            </a: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(+jump at gel) → stiffening</a:t>
            </a: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base carrier: sin(φ)</a:t>
            </a: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3rd harmonic: 0.12·sin(3φ)</a:t>
            </a: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→ nonlinear/LAOS-like</a:t>
            </a: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envelope: sigmoid rise</a:t>
            </a: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→ structure forming</a:t>
            </a: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+measurement noise</a:t>
            </a: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real blood has no answer key. A placed gel point makes each method's error measurable in seconds.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777240" cy="77724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508760" y="384048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2 — Synthetic Clot (finished signal)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536192" y="896112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E1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line = the known gel point at 32 s</a:t>
            </a:r>
            <a:endParaRPr lang="en-US" sz="1400" dirty="0"/>
          </a:p>
        </p:txBody>
      </p:sp>
      <p:pic>
        <p:nvPicPr>
          <p:cNvPr id="6" name="Image 0" descr="/home/claude/v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1508760"/>
            <a:ext cx="978408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777240" cy="77724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508760" y="384048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3 — Signal Quality Audit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536192" y="896112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E1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at 6 dB SNR; 224 of 268 windows pass</a:t>
            </a:r>
            <a:endParaRPr lang="en-US" sz="1400" dirty="0"/>
          </a:p>
        </p:txBody>
      </p:sp>
      <p:pic>
        <p:nvPicPr>
          <p:cNvPr id="6" name="Image 0" descr="/home/claude/v_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1508760"/>
            <a:ext cx="978408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777240" cy="77724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508760" y="384048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4 — Candidate Detection Methods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536192" y="896112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E1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families on the same signal — the visual difference is the whole story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1463040"/>
            <a:ext cx="3611880" cy="4480560"/>
          </a:xfrm>
          <a:prstGeom prst="roundRect">
            <a:avLst>
              <a:gd name="adj" fmla="val 1519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9AA6B2">
                <a:alpha val="2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157276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7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Fourier (FFT/STFT)</a:t>
            </a:r>
            <a:endParaRPr lang="en-US" sz="1400" dirty="0"/>
          </a:p>
        </p:txBody>
      </p:sp>
      <p:pic>
        <p:nvPicPr>
          <p:cNvPr id="8" name="Image 0" descr="/home/claude/v_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057400"/>
            <a:ext cx="3337560" cy="23317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85800" y="457200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blurry — sees WHEN roughly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297680" y="1463040"/>
            <a:ext cx="3611880" cy="4480560"/>
          </a:xfrm>
          <a:prstGeom prst="roundRect">
            <a:avLst>
              <a:gd name="adj" fmla="val 1519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9AA6B2">
                <a:alpha val="2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480560" y="157276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Wavelet CWT</a:t>
            </a:r>
            <a:endParaRPr lang="en-US" sz="1400" dirty="0"/>
          </a:p>
        </p:txBody>
      </p:sp>
      <p:pic>
        <p:nvPicPr>
          <p:cNvPr id="12" name="Image 1" descr="/home/claude/v_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4840" y="2057400"/>
            <a:ext cx="3337560" cy="23317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480560" y="457200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 ridge tracks stiffening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092440" y="1463040"/>
            <a:ext cx="3611880" cy="4480560"/>
          </a:xfrm>
          <a:prstGeom prst="roundRect">
            <a:avLst>
              <a:gd name="adj" fmla="val 1519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9AA6B2">
                <a:alpha val="28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8275320" y="157276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2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Discrete DWT</a:t>
            </a:r>
            <a:endParaRPr lang="en-US" sz="1400" dirty="0"/>
          </a:p>
        </p:txBody>
      </p:sp>
      <p:pic>
        <p:nvPicPr>
          <p:cNvPr id="16" name="Image 2" descr="/home/claude/v_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0" y="2057400"/>
            <a:ext cx="3337560" cy="23317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275320" y="457200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time axis — can't localise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777240" cy="777240"/>
          </a:xfrm>
          <a:prstGeom prst="ellipse">
            <a:avLst/>
          </a:prstGeom>
          <a:solidFill>
            <a:srgbClr val="9E1B3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4.5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508760" y="384048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4.5 — Physics-Conditioned Wavelet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536192" y="896112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E1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stress → physics channel → wavelet (chained, not A-vs-B)</a:t>
            </a:r>
            <a:endParaRPr lang="en-US" sz="1400" dirty="0"/>
          </a:p>
        </p:txBody>
      </p:sp>
      <p:pic>
        <p:nvPicPr>
          <p:cNvPr id="6" name="Image 0" descr="/home/claude/v_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463040"/>
            <a:ext cx="8138160" cy="47548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823960" y="1463040"/>
            <a:ext cx="2834640" cy="4572000"/>
          </a:xfrm>
          <a:prstGeom prst="roundRect">
            <a:avLst>
              <a:gd name="adj" fmla="val 1935"/>
            </a:avLst>
          </a:prstGeom>
          <a:solidFill>
            <a:srgbClr val="1B2A4A"/>
          </a:solidFill>
          <a:ln/>
          <a:effectLst>
            <a:outerShdw blurRad="63500" dist="25400" dir="5400000" algn="bl" rotWithShape="0">
              <a:srgbClr val="9AA6B2">
                <a:alpha val="2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9052560" y="162763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chain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9052560" y="2057400"/>
            <a:ext cx="24231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physics engineering:</a:t>
            </a: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viscosity = stress ÷ shear-rate</a:t>
            </a: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(or structural-stress envelope).</a:t>
            </a: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wavelet on THAT channel,</a:t>
            </a: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raw stress.</a:t>
            </a: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wavelet hunts the transition in a signal that means 'how clotted is the blood.'</a:t>
            </a: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blood: median gap to the physical clot 11 s → 6 s.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777240" cy="77724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508760" y="384048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5 — Score the Methods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536192" y="896112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E1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weighted criteria → ranked verdict</a:t>
            </a:r>
            <a:endParaRPr lang="en-US" sz="1400" dirty="0"/>
          </a:p>
        </p:txBody>
      </p:sp>
      <p:pic>
        <p:nvPicPr>
          <p:cNvPr id="6" name="Image 0" descr="/home/claude/v_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1508760"/>
            <a:ext cx="978408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777240" cy="77724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508760" y="384048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5 — Robustness Check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536192" y="896112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E1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gel-point error vs added noise, by family</a:t>
            </a:r>
            <a:endParaRPr lang="en-US" sz="1400" dirty="0"/>
          </a:p>
        </p:txBody>
      </p:sp>
      <p:pic>
        <p:nvPicPr>
          <p:cNvPr id="6" name="Image 0" descr="/home/claude/v_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463040"/>
            <a:ext cx="8138160" cy="47548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823960" y="1463040"/>
            <a:ext cx="2834640" cy="4572000"/>
          </a:xfrm>
          <a:prstGeom prst="roundRect">
            <a:avLst>
              <a:gd name="adj" fmla="val 1935"/>
            </a:avLst>
          </a:prstGeom>
          <a:solidFill>
            <a:srgbClr val="1B2A4A"/>
          </a:solidFill>
          <a:ln/>
          <a:effectLst>
            <a:outerShdw blurRad="63500" dist="25400" dir="5400000" algn="bl" rotWithShape="0">
              <a:srgbClr val="9AA6B2">
                <a:alpha val="2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9052560" y="162763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it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9052560" y="2057400"/>
            <a:ext cx="24231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Flatter + lower = copes with noise.</a:t>
            </a: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CWT stays low.</a:t>
            </a: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DWT stays high.</a:t>
            </a: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the ranking isn't a fluke of one noise level.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777240" cy="77724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508760" y="384048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5 — Judge vs the Physical Gel Point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536192" y="896112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E1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gel point = G′/G″ crossover — idealised (left) vs real donor blood (right)</a:t>
            </a:r>
            <a:endParaRPr lang="en-US" sz="1400" dirty="0"/>
          </a:p>
        </p:txBody>
      </p:sp>
      <p:pic>
        <p:nvPicPr>
          <p:cNvPr id="6" name="Image 0" descr="/home/claude/crossover_compa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463040"/>
            <a:ext cx="8138160" cy="47548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823960" y="1463040"/>
            <a:ext cx="2834640" cy="4572000"/>
          </a:xfrm>
          <a:prstGeom prst="roundRect">
            <a:avLst>
              <a:gd name="adj" fmla="val 1935"/>
            </a:avLst>
          </a:prstGeom>
          <a:solidFill>
            <a:srgbClr val="1B2A4A"/>
          </a:solidFill>
          <a:ln/>
          <a:effectLst>
            <a:outerShdw blurRad="63500" dist="25400" dir="5400000" algn="bl" rotWithShape="0">
              <a:srgbClr val="9AA6B2">
                <a:alpha val="2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9052560" y="162763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Judging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9052560" y="2057400"/>
            <a:ext cx="24231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Left: the definition — G′ overtakes G″ at the gel point.</a:t>
            </a: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Right: REAL blood — the same moduli from actual stress &amp; strain. Noisy, several crossings.</a:t>
            </a: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take the first sustained liquid→gel crossing and check each detector against it.</a:t>
            </a: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raw-wavelet wins 73, conditioned 44. Only ~49 signals give a clean crossover — stated openly.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777240" cy="777240"/>
          </a:xfrm>
          <a:prstGeom prst="ellipse">
            <a:avLst/>
          </a:prstGeom>
          <a:solidFill>
            <a:srgbClr val="9E1B3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508760" y="384048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6 — Pick the Winner &amp; Deploy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536192" y="896112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winner read off the scoreboard, not hard-coded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1737360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CWT Morlet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880360" y="1737360"/>
            <a:ext cx="5456225" cy="658368"/>
          </a:xfrm>
          <a:prstGeom prst="roundRect">
            <a:avLst>
              <a:gd name="adj" fmla="val 6944"/>
            </a:avLst>
          </a:prstGeom>
          <a:solidFill>
            <a:srgbClr val="2E7D32"/>
          </a:solidFill>
          <a:ln/>
        </p:spPr>
      </p:sp>
      <p:sp>
        <p:nvSpPr>
          <p:cNvPr id="8" name="Text 6"/>
          <p:cNvSpPr/>
          <p:nvPr/>
        </p:nvSpPr>
        <p:spPr>
          <a:xfrm>
            <a:off x="2971800" y="1737360"/>
            <a:ext cx="527334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428025" y="1737360"/>
            <a:ext cx="731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4.59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14400" y="2688336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CWT Paul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880360" y="2688336"/>
            <a:ext cx="5408676" cy="658368"/>
          </a:xfrm>
          <a:prstGeom prst="roundRect">
            <a:avLst>
              <a:gd name="adj" fmla="val 6944"/>
            </a:avLst>
          </a:prstGeom>
          <a:solidFill>
            <a:srgbClr val="2E7D32"/>
          </a:solidFill>
          <a:ln/>
        </p:spPr>
      </p:sp>
      <p:sp>
        <p:nvSpPr>
          <p:cNvPr id="12" name="Text 10"/>
          <p:cNvSpPr/>
          <p:nvPr/>
        </p:nvSpPr>
        <p:spPr>
          <a:xfrm>
            <a:off x="2971800" y="2688336"/>
            <a:ext cx="52257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380476" y="2688336"/>
            <a:ext cx="731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4.55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14400" y="3639312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STFT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880360" y="3639312"/>
            <a:ext cx="4517136" cy="658368"/>
          </a:xfrm>
          <a:prstGeom prst="roundRect">
            <a:avLst>
              <a:gd name="adj" fmla="val 6944"/>
            </a:avLst>
          </a:prstGeom>
          <a:solidFill>
            <a:srgbClr val="C77800"/>
          </a:solidFill>
          <a:ln/>
        </p:spPr>
      </p:sp>
      <p:sp>
        <p:nvSpPr>
          <p:cNvPr id="16" name="Text 14"/>
          <p:cNvSpPr/>
          <p:nvPr/>
        </p:nvSpPr>
        <p:spPr>
          <a:xfrm>
            <a:off x="2971800" y="3639312"/>
            <a:ext cx="43342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488936" y="3639312"/>
            <a:ext cx="731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3.80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14400" y="4590288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DWT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2880360" y="4590288"/>
            <a:ext cx="2401214" cy="658368"/>
          </a:xfrm>
          <a:prstGeom prst="roundRect">
            <a:avLst>
              <a:gd name="adj" fmla="val 6944"/>
            </a:avLst>
          </a:prstGeom>
          <a:solidFill>
            <a:srgbClr val="B23030"/>
          </a:solidFill>
          <a:ln/>
        </p:spPr>
      </p:sp>
      <p:sp>
        <p:nvSpPr>
          <p:cNvPr id="20" name="Text 18"/>
          <p:cNvSpPr/>
          <p:nvPr/>
        </p:nvSpPr>
        <p:spPr>
          <a:xfrm>
            <a:off x="2971800" y="4590288"/>
            <a:ext cx="221833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suitable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373014" y="4590288"/>
            <a:ext cx="731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2.02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14400" y="56692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candidates · scored on 9 criteria · top of the board deploys on real blood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777240" cy="77724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508760" y="384048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7 — One Donor: JUN18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536192" y="896112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E1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per-protocol clot time, three detectors — a per-patient readout</a:t>
            </a:r>
            <a:endParaRPr lang="en-US" sz="1400" dirty="0"/>
          </a:p>
        </p:txBody>
      </p:sp>
      <p:pic>
        <p:nvPicPr>
          <p:cNvPr id="6" name="Image 0" descr="/home/claude/v_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463040"/>
            <a:ext cx="8138160" cy="47548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823960" y="1463040"/>
            <a:ext cx="2834640" cy="4572000"/>
          </a:xfrm>
          <a:prstGeom prst="roundRect">
            <a:avLst>
              <a:gd name="adj" fmla="val 1935"/>
            </a:avLst>
          </a:prstGeom>
          <a:solidFill>
            <a:srgbClr val="1B2A4A"/>
          </a:solidFill>
          <a:ln/>
          <a:effectLst>
            <a:outerShdw blurRad="63500" dist="25400" dir="5400000" algn="bl" rotWithShape="0">
              <a:srgbClr val="9AA6B2">
                <a:alpha val="2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9052560" y="162763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it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9052560" y="2057400"/>
            <a:ext cx="24231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 signals, 7 protocols.</a:t>
            </a: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= framework wavelet</a:t>
            </a: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Orange = physics-conditioned</a:t>
            </a: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= viscosity transition</a:t>
            </a: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red = imposed-transient protocol with no physical clot (left blank, not faked).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2606040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9AA6B2">
                <a:alpha val="2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78308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9E1B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G′/G″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49808" y="26060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 point = the target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429000" y="1554480"/>
            <a:ext cx="2606040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9AA6B2">
                <a:alpha val="2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429000" y="178308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9E1B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224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3538728" y="26060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signals analysed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17920" y="1554480"/>
            <a:ext cx="2606040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9AA6B2">
                <a:alpha val="2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217920" y="178308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9E1B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4.59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6327648" y="26060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CWT-Morlet, selected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006840" y="1554480"/>
            <a:ext cx="2606040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9AA6B2">
                <a:alpha val="2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006840" y="178308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9E1B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6/6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9116568" y="26060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checks pass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3657600"/>
            <a:ext cx="10881360" cy="2194560"/>
          </a:xfrm>
          <a:prstGeom prst="roundRect">
            <a:avLst>
              <a:gd name="adj" fmla="val 2500"/>
            </a:avLst>
          </a:prstGeom>
          <a:solidFill>
            <a:srgbClr val="24365C"/>
          </a:solidFill>
          <a:ln/>
          <a:effectLst>
            <a:outerShdw blurRad="63500" dist="25400" dir="5400000" algn="bl" rotWithShape="0">
              <a:srgbClr val="9AA6B2">
                <a:alpha val="2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14400" y="384048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approach in one line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14400" y="4297680"/>
            <a:ext cx="10332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the gel point physically (G′/G″ crossover), build candidate detectors including a physics-conditioned wavelet, score them on nine criteria against both a known-answer synthetic clot and the real crossover, deploy the winner, and show it on one donor.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1019</Words>
  <Application>Microsoft Office PowerPoint</Application>
  <PresentationFormat>Widescreen</PresentationFormat>
  <Paragraphs>192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Rohan Roy</cp:lastModifiedBy>
  <cp:revision>2</cp:revision>
  <dcterms:created xsi:type="dcterms:W3CDTF">2026-09-03T01:48:03Z</dcterms:created>
  <dcterms:modified xsi:type="dcterms:W3CDTF">2026-09-03T08:47:46Z</dcterms:modified>
</cp:coreProperties>
</file>