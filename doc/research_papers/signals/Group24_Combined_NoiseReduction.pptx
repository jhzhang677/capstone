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1205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689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7A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CC"/>
                </a:solidFill>
              </a:rPr>
              <a:t>GROUP 24  ·  LITERATURE REVIEW SUPPLEMENT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Reduction in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Rheological Signal Processing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DD6C8"/>
                </a:solidFill>
              </a:rPr>
              <a:t>Preserving gel transitions while eliminating instrument noise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1472184" cy="292608"/>
          </a:xfrm>
          <a:prstGeom prst="roundRect">
            <a:avLst>
              <a:gd name="adj" fmla="val 18750"/>
            </a:avLst>
          </a:prstGeom>
          <a:solidFill>
            <a:srgbClr val="1B7A8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00400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 Key Papers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57400" y="3200400"/>
            <a:ext cx="1472184" cy="292608"/>
          </a:xfrm>
          <a:prstGeom prst="roundRect">
            <a:avLst>
              <a:gd name="adj" fmla="val 18750"/>
            </a:avLst>
          </a:prstGeom>
          <a:solidFill>
            <a:srgbClr val="3DAA6E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3200400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 Techniques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0" y="3200400"/>
            <a:ext cx="2048256" cy="292608"/>
          </a:xfrm>
          <a:prstGeom prst="roundRect">
            <a:avLst>
              <a:gd name="adj" fmla="val 18750"/>
            </a:avLst>
          </a:prstGeom>
          <a:solidFill>
            <a:srgbClr val="F4A025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320040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Haemograph Project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33872" y="3200400"/>
            <a:ext cx="1472184" cy="292608"/>
          </a:xfrm>
          <a:prstGeom prst="roundRect">
            <a:avLst>
              <a:gd name="adj" fmla="val 18750"/>
            </a:avLst>
          </a:prstGeom>
          <a:solidFill>
            <a:srgbClr val="4A6572"/>
          </a:solidFill>
          <a:ln/>
        </p:spPr>
      </p:sp>
      <p:sp>
        <p:nvSpPr>
          <p:cNvPr id="13" name="Text 11"/>
          <p:cNvSpPr/>
          <p:nvPr/>
        </p:nvSpPr>
        <p:spPr>
          <a:xfrm>
            <a:off x="5833872" y="3200400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Science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34072" y="3200400"/>
            <a:ext cx="1856232" cy="292608"/>
          </a:xfrm>
          <a:prstGeom prst="roundRect">
            <a:avLst>
              <a:gd name="adj" fmla="val 18750"/>
            </a:avLst>
          </a:prstGeom>
          <a:solidFill>
            <a:srgbClr val="7B5EA7"/>
          </a:solidFill>
          <a:ln/>
        </p:spPr>
      </p:sp>
      <p:sp>
        <p:nvSpPr>
          <p:cNvPr id="15" name="Text 13"/>
          <p:cNvSpPr/>
          <p:nvPr/>
        </p:nvSpPr>
        <p:spPr>
          <a:xfrm>
            <a:off x="7434072" y="3200400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Wavelet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B0C4CC"/>
                </a:solidFill>
              </a:rPr>
              <a:t>Wavelet-Based Time–Frequency Analysis of Evolving Fluids in a Microfluidic Rheometer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CORE CHALLENGE — NOISE VS USEFUL SIGNAL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572"/>
                </a:solidFill>
              </a:rPr>
              <a:t>The central question raised by Dr Ragil: is useful information being rejected while removing noise?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20624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4206240" cy="292608"/>
          </a:xfrm>
          <a:prstGeom prst="rect">
            <a:avLst/>
          </a:prstGeom>
          <a:solidFill>
            <a:srgbClr val="E0474C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078992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WHAT IS NOISE IN RHEOMETER DATA?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444752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Instrument vibration and mechanical artefacts from the rheometer motor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Thermal fluctuations causing baseline drift in storage/loss moduli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Electrical noise in sensor output (ADC quantisation noise)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Environmental interference: air currents, building vibration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Additive Gaussian white noise distributed across all frequencies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High-frequency components uncorrelated with material behaviour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78992"/>
            <a:ext cx="420624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78992"/>
            <a:ext cx="4206240" cy="292608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1078992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WHAT MUST NOT BE REMOVED?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92040" y="1444752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Rapid transient jumps at the gel point — mark onset of structural transition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Harmonic content at frequencies above the fundamental — encodes nonlinear viscoelastic behaviour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Small amplitude modulations tracking evolving moduli — may be real signal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Dominant frequency shifts over time — captures gelation kinetics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Structural transition markers — scale drift and harmonic energy redistribution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4636008"/>
            <a:ext cx="8595360" cy="320040"/>
          </a:xfrm>
          <a:prstGeom prst="rect">
            <a:avLst/>
          </a:prstGeom>
          <a:solidFill>
            <a:srgbClr val="1B7A8C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463600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metric: Evaluation must measure feature preservation, not just SNR improvement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DENOISING DILEMMA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572"/>
                </a:solidFill>
              </a:rPr>
              <a:t>Why noise reduction in evolving rheological signals is fundamentally different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02336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4023360" cy="2926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078992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444752"/>
            <a:ext cx="380390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In a stationary signal, noise reduction is straightforward — apply a low-pass filter or average.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But gelation signals are non-stationary by design: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The gel point crossover IS a rapid change in G′. A filter that smooths noise also smooths the transition you are trying to detect.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078992"/>
            <a:ext cx="21031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078992"/>
            <a:ext cx="2103120" cy="292608"/>
          </a:xfrm>
          <a:prstGeom prst="rect">
            <a:avLst/>
          </a:prstGeom>
          <a:solidFill>
            <a:srgbClr val="E0474C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0789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OVER-SMOOTH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1444752"/>
            <a:ext cx="192024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Window too wide — gel point blurred, crossover time wrong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03720" y="1078992"/>
            <a:ext cx="21031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903720" y="1078992"/>
            <a:ext cx="2103120" cy="292608"/>
          </a:xfrm>
          <a:prstGeom prst="rect">
            <a:avLst/>
          </a:prstGeom>
          <a:solidFill>
            <a:srgbClr val="F4A025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160" y="10789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UNDER-SMOOTH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95160" y="1444752"/>
            <a:ext cx="192024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Window too narrow — noise spikes misidentified as transitions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703320"/>
            <a:ext cx="8595360" cy="100584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703320"/>
            <a:ext cx="109728" cy="1005840"/>
          </a:xfrm>
          <a:prstGeom prst="rect">
            <a:avLst/>
          </a:prstGeom>
          <a:solidFill>
            <a:srgbClr val="F4A025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3749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Key insight: The window size must be chosen relative to the expected gelation timescale — which varies between experiments and concentrations. This is why adaptive methods (wavelets, EMD, VMD) outperform fixed-window filters for your data.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solidFill>
            <a:srgbClr val="1B7A8C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Recommended pipeline:  Ensemble avg → Savitzky-Golay preprocessing → Wavelet CWT analysis → EMD/VMD decomposition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F4A025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PAPER 1 — OWCh: THE NOISE-SIGNAL FOUNDATION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4980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Geri, Keshavarz, Divoux, Clasen, Curtis, McKinley (2018). </a:t>
            </a:r>
            <a:r>
              <a:rPr lang="en-US" sz="1100" i="1" dirty="0">
                <a:solidFill>
                  <a:srgbClr val="B0C4CC"/>
                </a:solidFill>
              </a:rPr>
              <a:t>Physical Review X, 8, 041042.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789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C"/>
                </a:solidFill>
              </a:rPr>
              <a:t>DOI: </a:t>
            </a:r>
            <a:r>
              <a:rPr lang="en-US" sz="1000" dirty="0">
                <a:solidFill>
                  <a:srgbClr val="3DD6C8"/>
                </a:solidFill>
              </a:rPr>
              <a:t>10.1103/PhysRevX.8.041042</a:t>
            </a:r>
            <a:r>
              <a:rPr lang="en-US" sz="1000" dirty="0">
                <a:solidFill>
                  <a:srgbClr val="B0C4CC"/>
                </a:solidFill>
              </a:rPr>
              <a:t>   |   Free PDF: </a:t>
            </a:r>
            <a:r>
              <a:rPr lang="en-US" sz="1000" dirty="0">
                <a:solidFill>
                  <a:srgbClr val="3DD6C8"/>
                </a:solidFill>
              </a:rPr>
              <a:t>arxiv.org/abs/1804.03061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4160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63040"/>
            <a:ext cx="4160520" cy="292608"/>
          </a:xfrm>
          <a:prstGeom prst="rect">
            <a:avLst/>
          </a:prstGeom>
          <a:solidFill>
            <a:srgbClr val="1B7A8C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463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PROVED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828800"/>
            <a:ext cx="393192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OWCh reduces measurement time by up to 100× vs conventional frequency sweeps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Cosine-tapered window simultaneously minimises spectral leakage AND maximises SNR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Optimal tapering ≈ 10% of total signal length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Accuracy limited only by the instrument's noise floor — not the method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Demonstrated on fast gelation of acid-induced protein gel — direct predecessor of Haemograph application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4160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463040"/>
            <a:ext cx="4160520" cy="292608"/>
          </a:xfrm>
          <a:prstGeom prst="rect">
            <a:avLst/>
          </a:prstGeom>
          <a:solidFill>
            <a:srgbClr val="F4A025"/>
          </a:solidFill>
          <a:ln/>
        </p:spPr>
      </p:sp>
      <p:sp>
        <p:nvSpPr>
          <p:cNvPr id="14" name="Text 12"/>
          <p:cNvSpPr/>
          <p:nvPr/>
        </p:nvSpPr>
        <p:spPr>
          <a:xfrm>
            <a:off x="4818888" y="1463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THE NOISE INSIGHT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18888" y="1828800"/>
            <a:ext cx="393192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As the tapering parameter increases: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↓  Spectral leakage decreases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↓  Signal power at edges decreases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↓  SNR of output deteriorates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→  Optimal window balances both effects — this is where the name 'optimally windowed' comes from.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solidFill>
            <a:srgbClr val="1B7A8C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Dataset 1 connection: Mills et al. (2025) used OWCh on an ARES-G2. This paper invented the method. The noise floor analysis directly explains the TransientMotorTorque column.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2AABB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PAPERS 2 &amp; 3 — WAVELET DENOISING: THEORY &amp; PRACTICE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114800" cy="621792"/>
          </a:xfrm>
          <a:prstGeom prst="rect">
            <a:avLst/>
          </a:prstGeom>
          <a:solidFill>
            <a:srgbClr val="1B7A8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49808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PAPER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7552" y="74980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Donoho &amp; Johnstone (1994)  </a:t>
            </a:r>
            <a:r>
              <a:rPr lang="en-US" sz="1000" i="1" dirty="0">
                <a:solidFill>
                  <a:srgbClr val="B0C4CC"/>
                </a:solidFill>
              </a:rPr>
              <a:t>Biometrika, 81(3), 425–455
</a:t>
            </a:r>
            <a:r>
              <a:rPr lang="en-US" sz="800" dirty="0">
                <a:solidFill>
                  <a:srgbClr val="3DD6C8"/>
                </a:solidFill>
              </a:rPr>
              <a:t>DOI: 10.1093/biomet/81.3.425   |   PDF: imjohnstone.su.domains/WEBLIST/1994/isaws.pdf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749808"/>
            <a:ext cx="4114800" cy="62179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749808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PAPER 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76672" y="74980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Donoho (1995)  </a:t>
            </a:r>
            <a:r>
              <a:rPr lang="en-US" sz="1000" i="1" dirty="0">
                <a:solidFill>
                  <a:srgbClr val="B0C4CC"/>
                </a:solidFill>
              </a:rPr>
              <a:t>IEEE Trans. Inf. Theory, 41(3), 613–627
</a:t>
            </a:r>
            <a:r>
              <a:rPr lang="en-US" sz="800" dirty="0">
                <a:solidFill>
                  <a:srgbClr val="3DD6C8"/>
                </a:solidFill>
              </a:rPr>
              <a:t>DOI: 10.1109/18.382009   |   PDF: web.stanford.edu/dept/statistics/cgi-bin/donoho/wp-content/uploads/2018/08/denoiserelease3.pdf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481328"/>
            <a:ext cx="27889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481328"/>
            <a:ext cx="2788920" cy="320040"/>
          </a:xfrm>
          <a:prstGeom prst="rect">
            <a:avLst/>
          </a:prstGeom>
          <a:solidFill>
            <a:srgbClr val="1B7A8C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4813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1994 — THE ORACLE INEQUALITY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1847088"/>
            <a:ext cx="2578608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Proved wavelet thresholding is near-optimal. Even without knowing which coefficients carry signal vs noise, a simple threshold achieves near-oracle performance.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Universal threshold:  λ = σ √(2 log N)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where σ = noise std,  N = signal length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In PyWavelets: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pywt.threshold(coeffs, value=σ·√(2·log(N)), mode='soft')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46120" y="1481328"/>
            <a:ext cx="27889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481328"/>
            <a:ext cx="2788920" cy="320040"/>
          </a:xfrm>
          <a:prstGeom prst="rect">
            <a:avLst/>
          </a:prstGeom>
          <a:solidFill>
            <a:srgbClr val="E0474C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14813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HARD THRESHOLDING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55848" y="1847088"/>
            <a:ext cx="2578608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Zero coefficients below λ, keep rest unchanged.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✓  Preserves sharp boundaries and transient jumps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✗  Discontinuous at threshold — causes Gibbs oscillations near signal edges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⚠  For gel crossover: may introduce artificial jumps that mimic transition events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1481328"/>
            <a:ext cx="27889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481328"/>
            <a:ext cx="2788920" cy="32004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4813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SOFT THRESHOLDING — PREFERRED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27648" y="1847088"/>
            <a:ext cx="2578608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Shrink all coefficients toward zero by λ.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✓  Smooth reconstruction, no discontinuities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✓  Preserves smoothness class of true signal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✗  Over-smooths, underestimates amplitude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⚠  Preferred for G′/G″ — gel point crossover is a smooth inflection, not a sharp step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PAPERS 4 &amp; 5 — EMD AND SAVITZKY-GOLAY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160520" cy="585216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749808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Huang, Shen, Long et al. (1998)  </a:t>
            </a:r>
            <a:r>
              <a:rPr lang="en-US" sz="1000" i="1" dirty="0">
                <a:solidFill>
                  <a:srgbClr val="F0F4F5"/>
                </a:solidFill>
              </a:rPr>
              <a:t>Proc. Royal Society A, 454(1971), 903–995
</a:t>
            </a:r>
            <a:r>
              <a:rPr lang="en-US" sz="850" dirty="0">
                <a:solidFill>
                  <a:srgbClr val="3DD6C8"/>
                </a:solidFill>
              </a:rPr>
              <a:t>DOI: 10.1098/rspa.1998.0193   |   Free PDF: hal.science/hal-04014501v1/file/huang1998.pdf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1605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81328"/>
            <a:ext cx="347472" cy="347472"/>
          </a:xfrm>
          <a:prstGeom prst="ellipse">
            <a:avLst/>
          </a:prstGeom>
          <a:solidFill>
            <a:srgbClr val="3DAA6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14813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Find extrema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16642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</a:rPr>
              <a:t>Identify all local maxima and minima of the signal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075688"/>
            <a:ext cx="347472" cy="347472"/>
          </a:xfrm>
          <a:prstGeom prst="ellipse">
            <a:avLst/>
          </a:prstGeom>
          <a:solidFill>
            <a:srgbClr val="3DAA6E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20756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Fit envelopes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22585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</a:rPr>
              <a:t>Cubic spline through maxima (upper) and minima (lower)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670048"/>
            <a:ext cx="347472" cy="347472"/>
          </a:xfrm>
          <a:prstGeom prst="ellipse">
            <a:avLst/>
          </a:prstGeom>
          <a:solidFill>
            <a:srgbClr val="3DAA6E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" y="2670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Extract IMF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285292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</a:rPr>
              <a:t>Subtract mean envelope — repeat sifting until convergence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3291840"/>
            <a:ext cx="3977640" cy="256032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2918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What the IMFs represent for gelation data: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" y="3593592"/>
            <a:ext cx="1371600" cy="237744"/>
          </a:xfrm>
          <a:prstGeom prst="rect">
            <a:avLst/>
          </a:prstGeom>
          <a:solidFill>
            <a:srgbClr val="E0474C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35935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IMF 1–2 (fast noise)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783080" y="35935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Instrument electrical noise, vibration — DISCARD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7472" y="3886200"/>
            <a:ext cx="1371600" cy="237744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38862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IMF 3–5 (gelation dynamics)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783080" y="38862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Actual G′ rise — PRESERVE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7472" y="4178808"/>
            <a:ext cx="1371600" cy="237744"/>
          </a:xfrm>
          <a:prstGeom prst="rect">
            <a:avLst/>
          </a:prstGeom>
          <a:solidFill>
            <a:srgbClr val="1B7A8C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" y="41788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Residual (trend)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783080" y="41788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Slow monotonic increase — core gelation signal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09160" y="749808"/>
            <a:ext cx="4160520" cy="585216"/>
          </a:xfrm>
          <a:prstGeom prst="rect">
            <a:avLst/>
          </a:prstGeom>
          <a:solidFill>
            <a:srgbClr val="F4A025"/>
          </a:solidFill>
          <a:ln/>
        </p:spPr>
      </p:sp>
      <p:sp>
        <p:nvSpPr>
          <p:cNvPr id="32" name="Text 30"/>
          <p:cNvSpPr/>
          <p:nvPr/>
        </p:nvSpPr>
        <p:spPr>
          <a:xfrm>
            <a:off x="4818888" y="749808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Savitzky &amp; Golay (1964)  </a:t>
            </a:r>
            <a:r>
              <a:rPr lang="en-US" sz="900" i="1" dirty="0">
                <a:solidFill>
                  <a:srgbClr val="0D1B2A"/>
                </a:solidFill>
              </a:rPr>
              <a:t>Analytical Chemistry, 36(8), 1627–1639. 20,000+ citations
</a:t>
            </a:r>
            <a:r>
              <a:rPr lang="en-US" sz="850" dirty="0">
                <a:solidFill>
                  <a:srgbClr val="0D1B2A"/>
                </a:solidFill>
              </a:rPr>
              <a:t>DOI: 10.1021/ac60214a047   |   Free PDF: agora.cs.wcu.edu/~huffman/figures/sgpaper1964.pdf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141732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18888" y="14630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The Key Idea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18888" y="1719072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Fit a polynomial to each sliding window by least squares. Use the polynomial value at the window centre as the smoothed estimate. This preserves peaks, troughs and shape — unlike a moving average which flattens them.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273552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273552"/>
            <a:ext cx="416052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8" name="Text 36"/>
          <p:cNvSpPr/>
          <p:nvPr/>
        </p:nvSpPr>
        <p:spPr>
          <a:xfrm>
            <a:off x="4709160" y="327355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99048" y="327355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Moving Avg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88936" y="327355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Savitzky-Golay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3566160"/>
            <a:ext cx="1389888" cy="301752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42" name="Text 40"/>
          <p:cNvSpPr/>
          <p:nvPr/>
        </p:nvSpPr>
        <p:spPr>
          <a:xfrm>
            <a:off x="4709160" y="3566160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Peak shape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99048" y="3566160"/>
            <a:ext cx="1389888" cy="301752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44" name="Text 42"/>
          <p:cNvSpPr/>
          <p:nvPr/>
        </p:nvSpPr>
        <p:spPr>
          <a:xfrm>
            <a:off x="6099048" y="3566160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Flattened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488936" y="3566160"/>
            <a:ext cx="1389888" cy="301752"/>
          </a:xfrm>
          <a:prstGeom prst="rect">
            <a:avLst/>
          </a:prstGeom>
          <a:solidFill>
            <a:srgbClr val="E8F7F0"/>
          </a:solidFill>
          <a:ln/>
        </p:spPr>
      </p:sp>
      <p:sp>
        <p:nvSpPr>
          <p:cNvPr id="46" name="Text 44"/>
          <p:cNvSpPr/>
          <p:nvPr/>
        </p:nvSpPr>
        <p:spPr>
          <a:xfrm>
            <a:off x="7488936" y="3566160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Preserved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09160" y="3867912"/>
            <a:ext cx="1389888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4709160" y="3867912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Phase shift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99048" y="3867912"/>
            <a:ext cx="1389888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6099048" y="3867912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Yes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488936" y="3867912"/>
            <a:ext cx="1389888" cy="301752"/>
          </a:xfrm>
          <a:prstGeom prst="rect">
            <a:avLst/>
          </a:prstGeom>
          <a:solidFill>
            <a:srgbClr val="E8F7F0"/>
          </a:solidFill>
          <a:ln/>
        </p:spPr>
      </p:sp>
      <p:sp>
        <p:nvSpPr>
          <p:cNvPr id="52" name="Text 50"/>
          <p:cNvSpPr/>
          <p:nvPr/>
        </p:nvSpPr>
        <p:spPr>
          <a:xfrm>
            <a:off x="7488936" y="3867912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None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09160" y="4169664"/>
            <a:ext cx="1389888" cy="301752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54" name="Text 52"/>
          <p:cNvSpPr/>
          <p:nvPr/>
        </p:nvSpPr>
        <p:spPr>
          <a:xfrm>
            <a:off x="4709160" y="4169664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Gel point time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099048" y="4169664"/>
            <a:ext cx="1389888" cy="301752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56" name="Text 54"/>
          <p:cNvSpPr/>
          <p:nvPr/>
        </p:nvSpPr>
        <p:spPr>
          <a:xfrm>
            <a:off x="6099048" y="4169664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Shifted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488936" y="4169664"/>
            <a:ext cx="1389888" cy="301752"/>
          </a:xfrm>
          <a:prstGeom prst="rect">
            <a:avLst/>
          </a:prstGeom>
          <a:solidFill>
            <a:srgbClr val="E8F7F0"/>
          </a:solidFill>
          <a:ln/>
        </p:spPr>
      </p:sp>
      <p:sp>
        <p:nvSpPr>
          <p:cNvPr id="58" name="Text 56"/>
          <p:cNvSpPr/>
          <p:nvPr/>
        </p:nvSpPr>
        <p:spPr>
          <a:xfrm>
            <a:off x="7488936" y="4169664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Accurate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09160" y="4590288"/>
            <a:ext cx="4160520" cy="457200"/>
          </a:xfrm>
          <a:prstGeom prst="rect">
            <a:avLst/>
          </a:prstGeom>
          <a:solidFill>
            <a:srgbClr val="F0F4F5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818888" y="45902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8C"/>
                </a:solidFill>
              </a:rPr>
              <a:t>OWCh Dataset 1: </a:t>
            </a:r>
            <a:r>
              <a:rPr lang="en-US" sz="900" dirty="0">
                <a:solidFill>
                  <a:srgbClr val="0D1B2A"/>
                </a:solidFill>
              </a:rPr>
              <a:t>Window &lt; one chirp period (~14 s).  </a:t>
            </a:r>
            <a:r>
              <a:rPr lang="en-US" sz="900" b="1" dirty="0">
                <a:solidFill>
                  <a:srgbClr val="F4A025"/>
                </a:solidFill>
              </a:rPr>
              <a:t>Gelation Dataset 2: </a:t>
            </a:r>
            <a:r>
              <a:rPr lang="en-US" sz="900" dirty="0">
                <a:solidFill>
                  <a:srgbClr val="0D1B2A"/>
                </a:solidFill>
              </a:rPr>
              <a:t>Window &lt; gel point transition time (~3–5 measurement intervals at 13.4 s/pt).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VMD AND HYBRID APPROACH — MOST PROMISING FOR THIS PROJECT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160520" cy="4251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4160520" cy="292608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7498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VMD — VARIATIONAL MODE DECOMPOSITION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0789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Dragomiretskiy &amp; Zosso (2014)  </a:t>
            </a:r>
            <a:r>
              <a:rPr lang="en-US" sz="900" i="1" dirty="0">
                <a:solidFill>
                  <a:srgbClr val="0D1B2A"/>
                </a:solidFill>
              </a:rPr>
              <a:t>IEEE Trans. Signal Processing, 62(3), 531–544
</a:t>
            </a:r>
            <a:r>
              <a:rPr lang="en-US" sz="900" dirty="0">
                <a:solidFill>
                  <a:srgbClr val="1B7A8C"/>
                </a:solidFill>
              </a:rPr>
              <a:t>DOI: 10.1109/TSP.2013.2288675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627632"/>
            <a:ext cx="393192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VMD addresses EMD's mode mixing problem by solving a constrained variational problem — it simultaneously estimates K band-limited modes and their centre frequencies.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It is mathematically grounded, non-recursive, and includes an internal Wiener filter for noise robustness.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Why VMD suits this project: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• Separates fundamental, harmonics and drift into distinct modes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• Robust to noise without mode mixing — critical for harmonic preservation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• Key parameters to tune: number of modes K and penalty factor α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749808"/>
            <a:ext cx="4160520" cy="4251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49808"/>
            <a:ext cx="4160520" cy="292608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7498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RECOMMENDED HYBRID PIPELINE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18888" y="1115568"/>
            <a:ext cx="457200" cy="45720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14" name="Text 12"/>
          <p:cNvSpPr/>
          <p:nvPr/>
        </p:nvSpPr>
        <p:spPr>
          <a:xfrm>
            <a:off x="4818888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111556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VMD Decomposition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49240" y="1353312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</a:rPr>
              <a:t>Decompose the chirp rheometer signal into K band-limited modes (fundamental + harmonics + drift). Tune K and α to the data.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18888" y="2377440"/>
            <a:ext cx="457200" cy="457200"/>
          </a:xfrm>
          <a:prstGeom prst="rect">
            <a:avLst/>
          </a:prstGeom>
          <a:solidFill>
            <a:srgbClr val="1B7A8C"/>
          </a:solidFill>
          <a:ln/>
        </p:spPr>
      </p:sp>
      <p:sp>
        <p:nvSpPr>
          <p:cNvPr id="18" name="Text 16"/>
          <p:cNvSpPr/>
          <p:nvPr/>
        </p:nvSpPr>
        <p:spPr>
          <a:xfrm>
            <a:off x="4818888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237744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Wavelet Thresholding per VMD Mode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49240" y="2615184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</a:rPr>
              <a:t>Apply adaptive layer-dependent threshold within each mode. High-frequency layers → soft thresholding. Low-frequency layers → hard thresholding.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18888" y="3639312"/>
            <a:ext cx="457200" cy="457200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22" name="Text 20"/>
          <p:cNvSpPr/>
          <p:nvPr/>
        </p:nvSpPr>
        <p:spPr>
          <a:xfrm>
            <a:off x="4818888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363931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Feature Extraction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49240" y="3877056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</a:rPr>
              <a:t>Reconstruct denoised signal. Extract dominant frequency evolution, amplitude modulation, harmonic content, and structural transition markers for M3 / M4.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727448"/>
            <a:ext cx="9144000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72744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B0C4CC"/>
                </a:solidFill>
              </a:rPr>
              <a:t>Evidence: Kaur &amp; Bhatt (2015) — VMD-DWT hybrid outperforms EMD-DWT across all SNR/MSE metrics on ECG  |  Shi et al. (2025) — EEMD+entropy+IWTD best preserves transient features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F4A025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THRESHOLD SELECTION — THE CRITICAL PARAMETER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572"/>
                </a:solidFill>
              </a:rPr>
              <a:t>Too large a threshold removes useful signal. Too small and noise remains. Selection method determines outcome.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2029968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78992"/>
            <a:ext cx="2029968" cy="2926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07899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Universal Threshold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(VisuShrink)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9184" y="1435608"/>
            <a:ext cx="1874520" cy="237744"/>
          </a:xfrm>
          <a:prstGeom prst="rect">
            <a:avLst/>
          </a:prstGeom>
          <a:solidFill>
            <a:srgbClr val="E0474C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" y="143560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OVER-REMOVES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173736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8C"/>
                </a:solidFill>
              </a:rPr>
              <a:t>Formula: λ = σ√(2 log n)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2029968"/>
            <a:ext cx="18470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Threshold derived from noise level σ and signal length n. Simple and robust but often set too large — removes useful coefficients in evolving signals.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" y="4160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Donoho &amp; Johnstone (1994)
</a:t>
            </a:r>
            <a:r>
              <a:rPr lang="en-US" sz="800" dirty="0">
                <a:solidFill>
                  <a:srgbClr val="1B7A8C"/>
                </a:solidFill>
              </a:rPr>
              <a:t>doi.org/10.1093/biomet/81.3.425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32304" y="1078992"/>
            <a:ext cx="2029968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32304" y="1078992"/>
            <a:ext cx="2029968" cy="2926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2523744" y="107899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SURE Threshold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(Stein's Unbiased Risk)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05456" y="1435608"/>
            <a:ext cx="1874520" cy="237744"/>
          </a:xfrm>
          <a:prstGeom prst="rect">
            <a:avLst/>
          </a:prstGeom>
          <a:solidFill>
            <a:srgbClr val="F4A025"/>
          </a:solidFill>
          <a:ln/>
        </p:spPr>
      </p:sp>
      <p:sp>
        <p:nvSpPr>
          <p:cNvPr id="18" name="Text 16"/>
          <p:cNvSpPr/>
          <p:nvPr/>
        </p:nvSpPr>
        <p:spPr>
          <a:xfrm>
            <a:off x="2505456" y="143560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UNSTABLE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23744" y="173736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8C"/>
                </a:solidFill>
              </a:rPr>
              <a:t>Formula: Minimises MSE estimate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23744" y="2029968"/>
            <a:ext cx="18470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Adapts to signal energy. More accurate than universal for most signals but has high variance when signal energy is below noise energy — unstable for weak transient events.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08576" y="1078992"/>
            <a:ext cx="2029968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08576" y="1078992"/>
            <a:ext cx="2029968" cy="2926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3" name="Text 21"/>
          <p:cNvSpPr/>
          <p:nvPr/>
        </p:nvSpPr>
        <p:spPr>
          <a:xfrm>
            <a:off x="4700016" y="107899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Minimax Threshold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81728" y="1435608"/>
            <a:ext cx="1874520" cy="237744"/>
          </a:xfrm>
          <a:prstGeom prst="rect">
            <a:avLst/>
          </a:prstGeom>
          <a:solidFill>
            <a:srgbClr val="1B7A8C"/>
          </a:solidFill>
          <a:ln/>
        </p:spPr>
      </p:sp>
      <p:sp>
        <p:nvSpPr>
          <p:cNvPr id="25" name="Text 23"/>
          <p:cNvSpPr/>
          <p:nvPr/>
        </p:nvSpPr>
        <p:spPr>
          <a:xfrm>
            <a:off x="4681728" y="143560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BALANCED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00016" y="173736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8C"/>
                </a:solidFill>
              </a:rPr>
              <a:t>Formula: Near-optimal worst-case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00016" y="2029968"/>
            <a:ext cx="18470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Provides near-minimax optimal risk — sits between Universal and SURE. Good general performance. More conservative than Universal, preserving more signal structure.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784848" y="1078992"/>
            <a:ext cx="2029968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84848" y="1078992"/>
            <a:ext cx="2029968" cy="2926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0" name="Text 28"/>
          <p:cNvSpPr/>
          <p:nvPr/>
        </p:nvSpPr>
        <p:spPr>
          <a:xfrm>
            <a:off x="6876288" y="107899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Interscale Correlation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Threshold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0" y="1435608"/>
            <a:ext cx="1874520" cy="237744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143560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★ RECOMMENDED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76288" y="173736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8C"/>
                </a:solidFill>
              </a:rPr>
              <a:t>Formula: Propagation across scales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76288" y="2029968"/>
            <a:ext cx="18470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Uses propagation of wavelet coefficients across decomposition levels. Noise coefficients do not correlate across scales; signal does. Most appropriate for transient feature preservation.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76288" y="4160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He et al. (2015)
</a:t>
            </a:r>
            <a:r>
              <a:rPr lang="en-US" sz="800" dirty="0">
                <a:solidFill>
                  <a:srgbClr val="1B7A8C"/>
                </a:solidFill>
              </a:rPr>
              <a:t>doi.org/10.1155/2015/280251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COMPARATIVE SUMMARY — ALL METHODS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72"/>
                </a:solidFill>
              </a:rPr>
              <a:t>Evaluated against the criteria that matter for evolving fluid / coagulation signal analysis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219456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" y="100584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Method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94560" y="1005840"/>
            <a:ext cx="123444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2249424" y="1005840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Non-stationary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29000" y="1005840"/>
            <a:ext cx="164592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3483864" y="100584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Transient Preservation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74920" y="1005840"/>
            <a:ext cx="141732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5129784" y="1005840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Harmonic Content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92240" y="1005840"/>
            <a:ext cx="109728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6547104" y="100584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Complexity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589520" y="1005840"/>
            <a:ext cx="155448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7644384" y="100584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Recommended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1408176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" y="1408176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1B2A"/>
                </a:solidFill>
              </a:rPr>
              <a:t>FFT Filtering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194560" y="1408176"/>
            <a:ext cx="12344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2249424" y="1408176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474C"/>
                </a:solidFill>
              </a:rPr>
              <a:t>✗ No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29000" y="1408176"/>
            <a:ext cx="16459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483864" y="1408176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474C"/>
                </a:solidFill>
              </a:rPr>
              <a:t>✗ Poor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74920" y="1408176"/>
            <a:ext cx="14173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129784" y="1408176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474C"/>
                </a:solidFill>
              </a:rPr>
              <a:t>✗ Lost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92240" y="1408176"/>
            <a:ext cx="10972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547104" y="1408176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Low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589520" y="1408176"/>
            <a:ext cx="1554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644384" y="1408176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474C"/>
                </a:solidFill>
              </a:rPr>
              <a:t>✗ No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1847088"/>
            <a:ext cx="2194560" cy="438912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" y="1847088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1B2A"/>
                </a:solidFill>
              </a:rPr>
              <a:t>Wavelet Hard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194560" y="1847088"/>
            <a:ext cx="1234440" cy="438912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32" name="Text 30"/>
          <p:cNvSpPr/>
          <p:nvPr/>
        </p:nvSpPr>
        <p:spPr>
          <a:xfrm>
            <a:off x="2249424" y="1847088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Partial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29000" y="1847088"/>
            <a:ext cx="1645920" cy="438912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34" name="Text 32"/>
          <p:cNvSpPr/>
          <p:nvPr/>
        </p:nvSpPr>
        <p:spPr>
          <a:xfrm>
            <a:off x="3483864" y="1847088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AA6E"/>
                </a:solidFill>
              </a:rPr>
              <a:t>✓ Good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74920" y="1847088"/>
            <a:ext cx="1417320" cy="438912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36" name="Text 34"/>
          <p:cNvSpPr/>
          <p:nvPr/>
        </p:nvSpPr>
        <p:spPr>
          <a:xfrm>
            <a:off x="5129784" y="1847088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Partial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92240" y="1847088"/>
            <a:ext cx="1097280" cy="438912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38" name="Text 36"/>
          <p:cNvSpPr/>
          <p:nvPr/>
        </p:nvSpPr>
        <p:spPr>
          <a:xfrm>
            <a:off x="6547104" y="1847088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Medium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589520" y="1847088"/>
            <a:ext cx="1554480" cy="438912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40" name="Text 38"/>
          <p:cNvSpPr/>
          <p:nvPr/>
        </p:nvSpPr>
        <p:spPr>
          <a:xfrm>
            <a:off x="7644384" y="1847088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Baseline only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2286000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" y="22860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1B2A"/>
                </a:solidFill>
              </a:rPr>
              <a:t>Wavelet Soft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194560" y="2286000"/>
            <a:ext cx="12344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2249424" y="2286000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Partial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429000" y="2286000"/>
            <a:ext cx="16459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3483864" y="2286000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474C"/>
                </a:solidFill>
              </a:rPr>
              <a:t>✗ Over-smooths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74920" y="2286000"/>
            <a:ext cx="14173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129784" y="2286000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474C"/>
                </a:solidFill>
              </a:rPr>
              <a:t>✗ Weakened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492240" y="2286000"/>
            <a:ext cx="10972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6547104" y="2286000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Medium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589520" y="2286000"/>
            <a:ext cx="1554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7644384" y="228600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474C"/>
                </a:solidFill>
              </a:rPr>
              <a:t>✗ No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2724912"/>
            <a:ext cx="2194560" cy="438912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54" name="Text 52"/>
          <p:cNvSpPr/>
          <p:nvPr/>
        </p:nvSpPr>
        <p:spPr>
          <a:xfrm>
            <a:off x="54864" y="2724912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1B2A"/>
                </a:solidFill>
              </a:rPr>
              <a:t>Adaptive WT (ALDTF)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194560" y="2724912"/>
            <a:ext cx="1234440" cy="438912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56" name="Text 54"/>
          <p:cNvSpPr/>
          <p:nvPr/>
        </p:nvSpPr>
        <p:spPr>
          <a:xfrm>
            <a:off x="2249424" y="2724912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AA6E"/>
                </a:solidFill>
              </a:rPr>
              <a:t>✓ Yes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429000" y="2724912"/>
            <a:ext cx="1645920" cy="438912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58" name="Text 56"/>
          <p:cNvSpPr/>
          <p:nvPr/>
        </p:nvSpPr>
        <p:spPr>
          <a:xfrm>
            <a:off x="3483864" y="2724912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AA6E"/>
                </a:solidFill>
              </a:rPr>
              <a:t>✓ Good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074920" y="2724912"/>
            <a:ext cx="1417320" cy="438912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60" name="Text 58"/>
          <p:cNvSpPr/>
          <p:nvPr/>
        </p:nvSpPr>
        <p:spPr>
          <a:xfrm>
            <a:off x="5129784" y="272491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AA6E"/>
                </a:solidFill>
              </a:rPr>
              <a:t>✓ Preserved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492240" y="2724912"/>
            <a:ext cx="1097280" cy="438912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62" name="Text 60"/>
          <p:cNvSpPr/>
          <p:nvPr/>
        </p:nvSpPr>
        <p:spPr>
          <a:xfrm>
            <a:off x="6547104" y="2724912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Med-High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589520" y="2724912"/>
            <a:ext cx="1554480" cy="438912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64" name="Text 62"/>
          <p:cNvSpPr/>
          <p:nvPr/>
        </p:nvSpPr>
        <p:spPr>
          <a:xfrm>
            <a:off x="7644384" y="2724912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AA6E"/>
                </a:solidFill>
              </a:rPr>
              <a:t>✓ Phase 1 test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0" y="3163824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54864" y="3163824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1B2A"/>
                </a:solidFill>
              </a:rPr>
              <a:t>EMD / EEMD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194560" y="3163824"/>
            <a:ext cx="12344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2249424" y="3163824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AA6E"/>
                </a:solidFill>
              </a:rPr>
              <a:t>✓ Yes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429000" y="3163824"/>
            <a:ext cx="16459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3483864" y="3163824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Moderate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074920" y="3163824"/>
            <a:ext cx="14173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5129784" y="3163824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Moderate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492240" y="3163824"/>
            <a:ext cx="10972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6547104" y="3163824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Medium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589520" y="3163824"/>
            <a:ext cx="1554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6" name="Text 74"/>
          <p:cNvSpPr/>
          <p:nvPr/>
        </p:nvSpPr>
        <p:spPr>
          <a:xfrm>
            <a:off x="7644384" y="3163824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Comparison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0" y="3602736"/>
            <a:ext cx="2194560" cy="438912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78" name="Text 76"/>
          <p:cNvSpPr/>
          <p:nvPr/>
        </p:nvSpPr>
        <p:spPr>
          <a:xfrm>
            <a:off x="54864" y="3602736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1B2A"/>
                </a:solidFill>
              </a:rPr>
              <a:t>VMD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2194560" y="3602736"/>
            <a:ext cx="1234440" cy="438912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80" name="Text 78"/>
          <p:cNvSpPr/>
          <p:nvPr/>
        </p:nvSpPr>
        <p:spPr>
          <a:xfrm>
            <a:off x="2249424" y="3602736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AA6E"/>
                </a:solidFill>
              </a:rPr>
              <a:t>✓ Yes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429000" y="3602736"/>
            <a:ext cx="1645920" cy="438912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82" name="Text 80"/>
          <p:cNvSpPr/>
          <p:nvPr/>
        </p:nvSpPr>
        <p:spPr>
          <a:xfrm>
            <a:off x="3483864" y="3602736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AA6E"/>
                </a:solidFill>
              </a:rPr>
              <a:t>✓ Good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5074920" y="3602736"/>
            <a:ext cx="1417320" cy="438912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84" name="Text 82"/>
          <p:cNvSpPr/>
          <p:nvPr/>
        </p:nvSpPr>
        <p:spPr>
          <a:xfrm>
            <a:off x="5129784" y="3602736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AA6E"/>
                </a:solidFill>
              </a:rPr>
              <a:t>✓ Preserved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6492240" y="3602736"/>
            <a:ext cx="1097280" cy="438912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86" name="Text 84"/>
          <p:cNvSpPr/>
          <p:nvPr/>
        </p:nvSpPr>
        <p:spPr>
          <a:xfrm>
            <a:off x="6547104" y="3602736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Med-High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7589520" y="3602736"/>
            <a:ext cx="1554480" cy="438912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88" name="Text 86"/>
          <p:cNvSpPr/>
          <p:nvPr/>
        </p:nvSpPr>
        <p:spPr>
          <a:xfrm>
            <a:off x="7644384" y="3602736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AA6E"/>
                </a:solidFill>
              </a:rPr>
              <a:t>✓✓ Primary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0" y="4041648"/>
            <a:ext cx="2194560" cy="438912"/>
          </a:xfrm>
          <a:prstGeom prst="rect">
            <a:avLst/>
          </a:prstGeom>
          <a:solidFill>
            <a:srgbClr val="EAF7F3"/>
          </a:solidFill>
          <a:ln/>
        </p:spPr>
      </p:sp>
      <p:sp>
        <p:nvSpPr>
          <p:cNvPr id="90" name="Text 88"/>
          <p:cNvSpPr/>
          <p:nvPr/>
        </p:nvSpPr>
        <p:spPr>
          <a:xfrm>
            <a:off x="54864" y="4041648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1B2A"/>
                </a:solidFill>
              </a:rPr>
              <a:t>VMD + Wavelet Hybrid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194560" y="4041648"/>
            <a:ext cx="1234440" cy="438912"/>
          </a:xfrm>
          <a:prstGeom prst="rect">
            <a:avLst/>
          </a:prstGeom>
          <a:solidFill>
            <a:srgbClr val="EAF7F3"/>
          </a:solidFill>
          <a:ln/>
        </p:spPr>
      </p:sp>
      <p:sp>
        <p:nvSpPr>
          <p:cNvPr id="92" name="Text 90"/>
          <p:cNvSpPr/>
          <p:nvPr/>
        </p:nvSpPr>
        <p:spPr>
          <a:xfrm>
            <a:off x="2249424" y="4041648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AA6E"/>
                </a:solidFill>
              </a:rPr>
              <a:t>✓ Yes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3429000" y="4041648"/>
            <a:ext cx="1645920" cy="438912"/>
          </a:xfrm>
          <a:prstGeom prst="rect">
            <a:avLst/>
          </a:prstGeom>
          <a:solidFill>
            <a:srgbClr val="EAF7F3"/>
          </a:solidFill>
          <a:ln/>
        </p:spPr>
      </p:sp>
      <p:sp>
        <p:nvSpPr>
          <p:cNvPr id="94" name="Text 92"/>
          <p:cNvSpPr/>
          <p:nvPr/>
        </p:nvSpPr>
        <p:spPr>
          <a:xfrm>
            <a:off x="3483864" y="4041648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AA6E"/>
                </a:solidFill>
              </a:rPr>
              <a:t>✓✓ Best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5074920" y="4041648"/>
            <a:ext cx="1417320" cy="438912"/>
          </a:xfrm>
          <a:prstGeom prst="rect">
            <a:avLst/>
          </a:prstGeom>
          <a:solidFill>
            <a:srgbClr val="EAF7F3"/>
          </a:solidFill>
          <a:ln/>
        </p:spPr>
      </p:sp>
      <p:sp>
        <p:nvSpPr>
          <p:cNvPr id="96" name="Text 94"/>
          <p:cNvSpPr/>
          <p:nvPr/>
        </p:nvSpPr>
        <p:spPr>
          <a:xfrm>
            <a:off x="5129784" y="4041648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AA6E"/>
                </a:solidFill>
              </a:rPr>
              <a:t>✓✓ Best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6492240" y="4041648"/>
            <a:ext cx="1097280" cy="438912"/>
          </a:xfrm>
          <a:prstGeom prst="rect">
            <a:avLst/>
          </a:prstGeom>
          <a:solidFill>
            <a:srgbClr val="EAF7F3"/>
          </a:solidFill>
          <a:ln/>
        </p:spPr>
      </p:sp>
      <p:sp>
        <p:nvSpPr>
          <p:cNvPr id="98" name="Text 96"/>
          <p:cNvSpPr/>
          <p:nvPr/>
        </p:nvSpPr>
        <p:spPr>
          <a:xfrm>
            <a:off x="6547104" y="4041648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High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7589520" y="4041648"/>
            <a:ext cx="1554480" cy="438912"/>
          </a:xfrm>
          <a:prstGeom prst="rect">
            <a:avLst/>
          </a:prstGeom>
          <a:solidFill>
            <a:srgbClr val="EAF7F3"/>
          </a:solidFill>
          <a:ln/>
        </p:spPr>
      </p:sp>
      <p:sp>
        <p:nvSpPr>
          <p:cNvPr id="100" name="Text 98"/>
          <p:cNvSpPr/>
          <p:nvPr/>
        </p:nvSpPr>
        <p:spPr>
          <a:xfrm>
            <a:off x="7644384" y="4041648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AA6E"/>
                </a:solidFill>
              </a:rPr>
              <a:t>✓✓ Recommended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KEY PAPERS — FULL REFERENCES &amp; LINKS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4187952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804672" cy="804672"/>
          </a:xfrm>
          <a:prstGeom prst="rect">
            <a:avLst/>
          </a:prstGeom>
          <a:solidFill>
            <a:srgbClr val="F4A025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80467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OWCh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" y="83210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Geri et al. (2018). Time-Resolved Mechanical Spectroscopy via Optimally Windowed Chirps. Physical Review X, 8, 041042.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6424" y="12344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6572"/>
                </a:solidFill>
              </a:rPr>
              <a:t>DOI: 10.1103/PhysRevX.8.041042</a:t>
            </a:r>
            <a:endParaRPr lang="en-US" sz="800" dirty="0"/>
          </a:p>
          <a:p>
            <a:pPr marL="0" indent="0">
              <a:buNone/>
            </a:pPr>
            <a:r>
              <a:rPr lang="en-US" sz="750" dirty="0">
                <a:solidFill>
                  <a:srgbClr val="1B7A8C"/>
                </a:solidFill>
              </a:rPr>
              <a:t>Free: arxiv.org/abs/1804.03061  |  MIT: dspace.mit.edu/handle/1721.1/119797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1664208"/>
            <a:ext cx="4187952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664208"/>
            <a:ext cx="804672" cy="804672"/>
          </a:xfrm>
          <a:prstGeom prst="rect">
            <a:avLst/>
          </a:prstGeom>
          <a:solidFill>
            <a:srgbClr val="1B7A8C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" y="166420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Wavelet Theory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06424" y="16916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Donoho &amp; Johnstone (1994). Ideal Spatial Adaptation by Wavelet Shrinkage. Biometrika, 81(3), 425–455.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06424" y="209397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6572"/>
                </a:solidFill>
              </a:rPr>
              <a:t>DOI: 10.1093/biomet/81.3.425</a:t>
            </a:r>
            <a:endParaRPr lang="en-US" sz="800" dirty="0"/>
          </a:p>
          <a:p>
            <a:pPr marL="0" indent="0">
              <a:buNone/>
            </a:pPr>
            <a:r>
              <a:rPr lang="en-US" sz="750" dirty="0">
                <a:solidFill>
                  <a:srgbClr val="1B7A8C"/>
                </a:solidFill>
              </a:rPr>
              <a:t>Free: imjohnstone.su.domains/WEBLIST/1994/isaws.pdf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56032" y="2523744"/>
            <a:ext cx="4187952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523744"/>
            <a:ext cx="804672" cy="804672"/>
          </a:xfrm>
          <a:prstGeom prst="rect">
            <a:avLst/>
          </a:prstGeom>
          <a:solidFill>
            <a:srgbClr val="1B7A8C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" y="2523744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Soft Threshold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06424" y="255117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Donoho (1995). De-Noising by Soft-Thresholding. IEEE Trans. Information Theory, 41(3), 613–627.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06424" y="29535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6572"/>
                </a:solidFill>
              </a:rPr>
              <a:t>DOI: 10.1109/18.382009</a:t>
            </a:r>
            <a:endParaRPr lang="en-US" sz="800" dirty="0"/>
          </a:p>
          <a:p>
            <a:pPr marL="0" indent="0">
              <a:buNone/>
            </a:pPr>
            <a:r>
              <a:rPr lang="en-US" sz="750" dirty="0">
                <a:solidFill>
                  <a:srgbClr val="1B7A8C"/>
                </a:solidFill>
              </a:rPr>
              <a:t>Free: web.stanford.edu/dept/statistics/cgi-bin/donoho/wp-content/uploads/2018/08/denoiserelease3.pdf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56032" y="3383280"/>
            <a:ext cx="4187952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3383280"/>
            <a:ext cx="804672" cy="804672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21" name="Text 19"/>
          <p:cNvSpPr/>
          <p:nvPr/>
        </p:nvSpPr>
        <p:spPr>
          <a:xfrm>
            <a:off x="256032" y="33832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EMD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06424" y="341071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Huang et al. (1998). Empirical Mode Decomposition and the Hilbert Spectrum. Proc. Royal Society A, 454(1971), 903–995.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06424" y="38130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6572"/>
                </a:solidFill>
              </a:rPr>
              <a:t>DOI: 10.1098/rspa.1998.0193</a:t>
            </a:r>
            <a:endParaRPr lang="en-US" sz="800" dirty="0"/>
          </a:p>
          <a:p>
            <a:pPr marL="0" indent="0">
              <a:buNone/>
            </a:pPr>
            <a:r>
              <a:rPr lang="en-US" sz="750" dirty="0">
                <a:solidFill>
                  <a:srgbClr val="1B7A8C"/>
                </a:solidFill>
              </a:rPr>
              <a:t>Free: hal.science/hal-04014501v1/file/huang1998.pdf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6032" y="4242816"/>
            <a:ext cx="4187952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4242816"/>
            <a:ext cx="804672" cy="804672"/>
          </a:xfrm>
          <a:prstGeom prst="rect">
            <a:avLst/>
          </a:prstGeom>
          <a:solidFill>
            <a:srgbClr val="F4A025"/>
          </a:solidFill>
          <a:ln/>
        </p:spPr>
      </p:sp>
      <p:sp>
        <p:nvSpPr>
          <p:cNvPr id="26" name="Text 24"/>
          <p:cNvSpPr/>
          <p:nvPr/>
        </p:nvSpPr>
        <p:spPr>
          <a:xfrm>
            <a:off x="256032" y="424281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S-G Filter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06424" y="42702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Savitzky &amp; Golay (1964). Smoothing and Differentiation by Simplified Least Squares. Analytical Chemistry, 36(8), 1627–1639.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06424" y="467258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6572"/>
                </a:solidFill>
              </a:rPr>
              <a:t>DOI: 10.1021/ac60214a047</a:t>
            </a:r>
            <a:endParaRPr lang="en-US" sz="800" dirty="0"/>
          </a:p>
          <a:p>
            <a:pPr marL="0" indent="0">
              <a:buNone/>
            </a:pPr>
            <a:r>
              <a:rPr lang="en-US" sz="750" dirty="0">
                <a:solidFill>
                  <a:srgbClr val="1B7A8C"/>
                </a:solidFill>
              </a:rPr>
              <a:t>Free: agora.cs.wcu.edu/~huffman/figures/sgpaper1964.pdf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804672"/>
            <a:ext cx="4187952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804672"/>
            <a:ext cx="804672" cy="80467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80467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VMD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13832" y="83210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Dragomiretskiy &amp; Zosso (2014). Variational Mode Decomposition. IEEE Trans. Signal Processing, 62(3), 531–544.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513832" y="12344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6572"/>
                </a:solidFill>
              </a:rPr>
              <a:t>DOI: 10.1109/TSP.2013.2288675</a:t>
            </a:r>
            <a:endParaRPr lang="en-US" sz="800" dirty="0"/>
          </a:p>
          <a:p>
            <a:pPr marL="0" indent="0">
              <a:buNone/>
            </a:pPr>
            <a:r>
              <a:rPr lang="en-US" sz="750" dirty="0">
                <a:solidFill>
                  <a:srgbClr val="1B7A8C"/>
                </a:solidFill>
              </a:rPr>
              <a:t>Available via IEEE Xplore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63440" y="1664208"/>
            <a:ext cx="4187952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1664208"/>
            <a:ext cx="804672" cy="804672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166420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Interscale Threshold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513832" y="16916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He et al. (2015). A new wavelet threshold considering interscale correlation. Mathematical Problems in Engineering, 2015, 280251.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513832" y="209397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6572"/>
                </a:solidFill>
              </a:rPr>
              <a:t>DOI: 10.1155/2015/280251</a:t>
            </a:r>
            <a:endParaRPr lang="en-US" sz="800" dirty="0"/>
          </a:p>
          <a:p>
            <a:pPr marL="0" indent="0">
              <a:buNone/>
            </a:pPr>
            <a:r>
              <a:rPr lang="en-US" sz="750" dirty="0">
                <a:solidFill>
                  <a:srgbClr val="1B7A8C"/>
                </a:solidFill>
              </a:rPr>
              <a:t>Open access: Wiley Online Library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63440" y="2523744"/>
            <a:ext cx="4187952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2523744"/>
            <a:ext cx="804672" cy="80467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2523744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ALDTF 2025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513832" y="255117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Adaptive Layer-Dependent Threshold Function (ALDTF) for ECG/cardiopulmonary signals. PMC 2025.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513832" y="29535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6572"/>
                </a:solidFill>
              </a:rPr>
              <a:t>Available via: PubMed Central (PMC)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663440" y="3383280"/>
            <a:ext cx="4187952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3383280"/>
            <a:ext cx="804672" cy="80467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46" name="Text 44"/>
          <p:cNvSpPr/>
          <p:nvPr/>
        </p:nvSpPr>
        <p:spPr>
          <a:xfrm>
            <a:off x="4663440" y="33832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VMD Hybrid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513832" y="341071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Kaur &amp; Bhatt (2015). Comparative study: ECG denoising by wavelet thresholding in EMD and VMD domains. IET Signal Processing / PMC.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6572"/>
                </a:solidFill>
              </a:rPr>
              <a:t>Available via PubMed Central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663440" y="4242816"/>
            <a:ext cx="4187952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63440" y="4242816"/>
            <a:ext cx="804672" cy="804672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51" name="Text 49"/>
          <p:cNvSpPr/>
          <p:nvPr/>
        </p:nvSpPr>
        <p:spPr>
          <a:xfrm>
            <a:off x="4663440" y="424281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EEMD Transient 2025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513832" y="42702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Shi et al. (2025). EEMD-SE-IWTD combined noise reduction for high-speed transient features. Sensors, 25, 5940.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513832" y="467258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6572"/>
                </a:solidFill>
              </a:rPr>
              <a:t>DOI: 10.3390/s25195940</a:t>
            </a:r>
            <a:endParaRPr lang="en-US" sz="800" dirty="0"/>
          </a:p>
          <a:p>
            <a:pPr marL="0" indent="0">
              <a:buNone/>
            </a:pPr>
            <a:r>
              <a:rPr lang="en-US" sz="750" dirty="0">
                <a:solidFill>
                  <a:srgbClr val="1B7A8C"/>
                </a:solidFill>
              </a:rPr>
              <a:t>Open access: MDPI Sensors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3DD6C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APPLICATION TO THIS PROJECT — M3, M4 &amp; EVALUATION FRAMEWORK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852928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2852928" cy="411480"/>
          </a:xfrm>
          <a:prstGeom prst="rect">
            <a:avLst/>
          </a:prstGeom>
          <a:solidFill>
            <a:srgbClr val="1B7A8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7724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M3 — NOISE CHARACTERISATION  (Wks 6–8)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1243584"/>
            <a:ext cx="2633472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Quantify SNR, noise type, and spectral distribution across ROTEM/TEG 6S and gel datasets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Identify which signal features degrade first under noise (harmonics, transients, amplitude)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Test whether Gaussian, impulse, or drift noise dominates the rheometer output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Establish SNR baseline before any denoising — becomes the pass/fail reference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0128" y="777240"/>
            <a:ext cx="2852928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777240"/>
            <a:ext cx="2852928" cy="41148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11" name="Text 9"/>
          <p:cNvSpPr/>
          <p:nvPr/>
        </p:nvSpPr>
        <p:spPr>
          <a:xfrm>
            <a:off x="3401568" y="77724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M4 — BASELINE METHOD  (Wks 8–11)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19856" y="1243584"/>
            <a:ext cx="2633472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Implement FFT, STFT and CWT pipelines with consistent preprocessing and noise handling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Test wavelet hard vs soft vs adaptive threshold on gel signal datasets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Apply VMD decomposition and compare denoised output against FFT-filtered baseline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Evaluate feature preservation: dominant frequency, harmonic content, gel-point transient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45936" y="777240"/>
            <a:ext cx="2852928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45936" y="777240"/>
            <a:ext cx="2852928" cy="411480"/>
          </a:xfrm>
          <a:prstGeom prst="rect">
            <a:avLst/>
          </a:prstGeom>
          <a:solidFill>
            <a:srgbClr val="F4A025"/>
          </a:solidFill>
          <a:ln/>
        </p:spPr>
      </p:sp>
      <p:sp>
        <p:nvSpPr>
          <p:cNvPr id="15" name="Text 13"/>
          <p:cNvSpPr/>
          <p:nvPr/>
        </p:nvSpPr>
        <p:spPr>
          <a:xfrm>
            <a:off x="6437376" y="77724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PASS / FAIL CRITERIA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55664" y="1243584"/>
            <a:ext cx="2633472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SNR improvement ≥ target threshold (defined from M3 baseline)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Amplitude of dominant frequency preserved within acceptable error bound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Gel-point transient not smoothed away — detectable in denoised signal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Real-time processing feasibility: denoising latency within FPGA constraint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B0C4CC"/>
                </a:solidFill>
              </a:rPr>
              <a:t>Recommended reading order: (1) Donoho &amp; Johnstone 1994 → (2) Geri et al. 2018 → (3) Huang et al. 1998 → (4) Savitzky &amp; Golay 1964 → (5) Donoho 1995 → (6) Dragomiretskiy &amp; Zosso 2014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2251</Words>
  <Application>Microsoft Office PowerPoint</Application>
  <PresentationFormat>On-screen Show (16:9)</PresentationFormat>
  <Paragraphs>287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Noise Reduction in Rheological Signal Processing — Group 24</dc:title>
  <dc:subject>PptxGenJS Presentation</dc:subject>
  <dc:creator>PptxGenJS</dc:creator>
  <cp:lastModifiedBy>Rohan Roy</cp:lastModifiedBy>
  <cp:revision>2</cp:revision>
  <dcterms:created xsi:type="dcterms:W3CDTF">2026-04-23T01:23:56Z</dcterms:created>
  <dcterms:modified xsi:type="dcterms:W3CDTF">2026-04-23T11:09:10Z</dcterms:modified>
</cp:coreProperties>
</file>